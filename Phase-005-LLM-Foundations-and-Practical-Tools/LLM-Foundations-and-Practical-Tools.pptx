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Input cost — US$ per 1 million tokens</c:v>
                </c:pt>
              </c:strCache>
            </c:strRef>
          </c:tx>
          <c:spPr>
            <a:solidFill>
              <a:srgbClr val="6E7CC8"/>
            </a:solidFill>
            <a:ln>
              <a:noFill/>
            </a:ln>
          </c:spPr>
          <c:dPt>
            <c:idx val="0"/>
            <c:spPr>
              <a:solidFill>
                <a:srgbClr val="031273"/>
              </a:solidFill>
              <a:ln>
                <a:noFill/>
              </a:ln>
            </c:spPr>
          </c:dPt>
          <c:dPt>
            <c:idx val="1"/>
            <c:spPr>
              <a:solidFill>
                <a:srgbClr val="031273"/>
              </a:solidFill>
              <a:ln>
                <a:noFill/>
              </a:ln>
            </c:spPr>
          </c:dPt>
          <c:dPt>
            <c:idx val="2"/>
            <c:spPr>
              <a:solidFill>
                <a:srgbClr val="6E7CC8"/>
              </a:solidFill>
              <a:ln>
                <a:noFill/>
              </a:ln>
            </c:spPr>
          </c:dPt>
          <c:dPt>
            <c:idx val="3"/>
            <c:spPr>
              <a:solidFill>
                <a:srgbClr val="FF4A62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GPT-5.4 nano</c:v>
                </c:pt>
                <c:pt idx="1">
                  <c:v>GPT-5.4 mini</c:v>
                </c:pt>
                <c:pt idx="2">
                  <c:v>GPT-5.4</c:v>
                </c:pt>
                <c:pt idx="3">
                  <c:v>GPT-5.5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0.7</c:v>
                </c:pt>
                <c:pt idx="2">
                  <c:v>2.5</c:v>
                </c:pt>
                <c:pt idx="3">
                  <c:v>5.0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1000" b="1">
                  <a:solidFill>
                    <a:srgbClr val="031273"/>
                  </a:solidFill>
                  <a:latin typeface="Segoe UI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8ECFB"/>
            </a:solidFill>
          </a:ln>
        </c:spPr>
        <c:txPr>
          <a:bodyPr/>
          <a:lstStyle/>
          <a:p>
            <a:pPr>
              <a:defRPr sz="1100">
                <a:solidFill>
                  <a:srgbClr val="031273"/>
                </a:solidFill>
                <a:latin typeface="Segoe UI Semibol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b"/>
        <c:majorGridlines>
          <c:spPr>
            <a:ln w="9525">
              <a:solidFill>
                <a:srgbClr val="E8ECF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A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486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score</c:v>
                </c:pt>
              </c:strCache>
            </c:strRef>
          </c:tx>
          <c:spPr>
            <a:solidFill>
              <a:srgbClr val="6E7CC8"/>
            </a:solidFill>
            <a:ln>
              <a:noFill/>
            </a:ln>
          </c:spPr>
          <c:dPt>
            <c:idx val="0"/>
            <c:spPr>
              <a:solidFill>
                <a:srgbClr val="6E7CC8"/>
              </a:solidFill>
              <a:ln>
                <a:noFill/>
              </a:ln>
            </c:spPr>
          </c:dPt>
          <c:dPt>
            <c:idx val="1"/>
            <c:spPr>
              <a:solidFill>
                <a:srgbClr val="031273"/>
              </a:solidFill>
              <a:ln>
                <a:noFill/>
              </a:ln>
            </c:spPr>
          </c:dPt>
          <c:dPt>
            <c:idx val="2"/>
            <c:spPr>
              <a:solidFill>
                <a:srgbClr val="FF4A62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Gemini</c:v>
                </c:pt>
                <c:pt idx="1">
                  <c:v>GPT-5.5</c:v>
                </c:pt>
                <c:pt idx="2">
                  <c:v>Claude Opus 4.8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58</c:v>
                </c:pt>
                <c:pt idx="2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031273"/>
                  </a:solidFill>
                  <a:latin typeface="Segoe UI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8ECFB"/>
            </a:solidFill>
          </a:ln>
        </c:spPr>
        <c:txPr>
          <a:bodyPr/>
          <a:lstStyle/>
          <a:p>
            <a:pPr>
              <a:defRPr sz="1100">
                <a:solidFill>
                  <a:srgbClr val="031273"/>
                </a:solidFill>
                <a:latin typeface="Segoe UI Semibol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9525">
              <a:solidFill>
                <a:srgbClr val="E8ECF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6A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486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Grok 4.3 (as shown in session)</c:v>
                </c:pt>
              </c:strCache>
            </c:strRef>
          </c:tx>
          <c:spPr>
            <a:ln w="31750">
              <a:solidFill>
                <a:srgbClr val="FF4A62"/>
              </a:solidFill>
            </a:ln>
          </c:spPr>
          <c:marker>
            <c:symbol val="circle"/>
            <c:size val="7"/>
            <c:spPr>
              <a:solidFill>
                <a:srgbClr val="FF4A62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Artificial Intelligence Index</c:v>
                </c:pt>
                <c:pt idx="1">
                  <c:v>Coding Index</c:v>
                </c:pt>
                <c:pt idx="2">
                  <c:v>Agentic Index</c:v>
                </c:pt>
                <c:pt idx="3">
                  <c:v>Humanity's Last Exam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41</c:v>
                </c:pt>
                <c:pt idx="2">
                  <c:v>65</c:v>
                </c:pt>
                <c:pt idx="3">
                  <c:v>35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spPr>
          <a:ln>
            <a:solidFill>
              <a:srgbClr val="E8ECFB"/>
            </a:solidFill>
          </a:ln>
        </c:spPr>
        <c:txPr>
          <a:bodyPr/>
          <a:lstStyle/>
          <a:p>
            <a:pPr>
              <a:defRPr sz="1050">
                <a:solidFill>
                  <a:srgbClr val="031273"/>
                </a:solidFill>
                <a:latin typeface="Segoe UI Semibold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 w="9525">
              <a:solidFill>
                <a:srgbClr val="E8ECFB"/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spPr>
          <a:ln>
            <a:solidFill>
              <a:srgbClr val="E8ECFB"/>
            </a:solidFill>
          </a:ln>
        </c:spPr>
        <c:txPr>
          <a:bodyPr/>
          <a:lstStyle/>
          <a:p>
            <a:pPr>
              <a:defRPr sz="900">
                <a:solidFill>
                  <a:srgbClr val="5A66A8"/>
                </a:solidFill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>
              <a:solidFill>
                <a:srgbClr val="031273"/>
              </a:solidFill>
              <a:latin typeface="Segoe UI Semibol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03127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1417320"/>
            <a:ext cx="5394960" cy="5394960"/>
          </a:xfrm>
          <a:prstGeom prst="ellipse">
            <a:avLst/>
          </a:prstGeom>
          <a:solidFill>
            <a:srgbClr val="FF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3200400"/>
            <a:ext cx="4206240" cy="4206240"/>
          </a:xfrm>
          <a:prstGeom prst="ellipse">
            <a:avLst/>
          </a:prstGeom>
          <a:solidFill>
            <a:srgbClr val="FF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4572000"/>
            <a:ext cx="4023360" cy="4023360"/>
          </a:xfrm>
          <a:prstGeom prst="ellipse">
            <a:avLst/>
          </a:prstGeom>
          <a:solidFill>
            <a:srgbClr val="FF6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310896"/>
            <a:ext cx="480060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629410" cy="932688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658368"/>
            <a:ext cx="2788920" cy="297904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7" y="1097280"/>
            <a:ext cx="3310128" cy="897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231136"/>
            <a:ext cx="786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240">
                <a:solidFill>
                  <a:srgbClr val="FFFFFF"/>
                </a:solidFill>
                <a:latin typeface="Segoe UI Semibold"/>
              </a:rPr>
              <a:t>PHASE-005  •  COMPLETE DECK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960120" cy="50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889504"/>
            <a:ext cx="8778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>
                <a:solidFill>
                  <a:srgbClr val="FFFFFF"/>
                </a:solidFill>
                <a:latin typeface="Segoe UI Semibold"/>
              </a:rPr>
              <a:t>LLM Foundations</a:t>
            </a:r>
            <a:br>
              <a:rPr sz="4500" b="0">
                <a:solidFill>
                  <a:srgbClr val="FFFFFF"/>
                </a:solidFill>
                <a:latin typeface="Segoe UI Semibold"/>
              </a:rPr>
            </a:br>
            <a:r>
              <a:rPr sz="4500" b="0">
                <a:solidFill>
                  <a:srgbClr val="FFFFFF"/>
                </a:solidFill>
                <a:latin typeface="Segoe UI Semibold"/>
              </a:rPr>
              <a:t>and Practical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70832"/>
            <a:ext cx="722376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E4E8"/>
                </a:solidFill>
                <a:latin typeface="Segoe UI"/>
              </a:rPr>
              <a:t>A complete, visual walkthrough of large language models — what they are, how they work, how to buy access to them, and how to run them on your own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285232"/>
            <a:ext cx="1080820" cy="329184"/>
          </a:xfrm>
          <a:prstGeom prst="roundRect">
            <a:avLst>
              <a:gd name="adj" fmla="val 50000"/>
            </a:avLst>
          </a:prstGeom>
          <a:solidFill>
            <a:srgbClr val="FF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00">
                <a:solidFill>
                  <a:srgbClr val="FFFFFF"/>
                </a:solidFill>
                <a:latin typeface="Segoe UI Semibold"/>
              </a:rPr>
              <a:t>10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75764" y="5285232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FF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00">
                <a:solidFill>
                  <a:srgbClr val="FFFFFF"/>
                </a:solidFill>
                <a:latin typeface="Segoe UI Semibold"/>
              </a:rPr>
              <a:t>LLM FOUNDATIONS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2268" y="5285232"/>
            <a:ext cx="1260043" cy="329184"/>
          </a:xfrm>
          <a:prstGeom prst="roundRect">
            <a:avLst>
              <a:gd name="adj" fmla="val 50000"/>
            </a:avLst>
          </a:prstGeom>
          <a:solidFill>
            <a:srgbClr val="FF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00">
                <a:solidFill>
                  <a:srgbClr val="FFFFFF"/>
                </a:solidFill>
                <a:latin typeface="Segoe UI Semibold"/>
              </a:rPr>
              <a:t>OPEN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0328" y="5285232"/>
            <a:ext cx="1439265" cy="329184"/>
          </a:xfrm>
          <a:prstGeom prst="roundRect">
            <a:avLst>
              <a:gd name="adj" fmla="val 50000"/>
            </a:avLst>
          </a:prstGeom>
          <a:solidFill>
            <a:srgbClr val="FF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00">
                <a:solidFill>
                  <a:srgbClr val="FFFFFF"/>
                </a:solidFill>
                <a:latin typeface="Segoe UI Semibold"/>
              </a:rPr>
              <a:t>CLOSED SOURCE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7609" y="5285232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FF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00">
                <a:solidFill>
                  <a:srgbClr val="FFFFFF"/>
                </a:solidFill>
                <a:latin typeface="Segoe UI Semibold"/>
              </a:rPr>
              <a:t>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8001" y="5285232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FF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00">
                <a:solidFill>
                  <a:srgbClr val="FFFFFF"/>
                </a:solidFill>
                <a:latin typeface="Segoe UI Semibold"/>
              </a:rPr>
              <a:t>HANDS-ON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199632"/>
            <a:ext cx="11058113" cy="0"/>
          </a:xfrm>
          <a:prstGeom prst="line">
            <a:avLst/>
          </a:prstGeom>
          <a:ln w="12700">
            <a:solidFill>
              <a:srgbClr val="FF8A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34593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60">
                <a:solidFill>
                  <a:srgbClr val="FFFFFF"/>
                </a:solidFill>
                <a:latin typeface="Segoe UI Semibold"/>
              </a:rPr>
              <a:t>SHASUVATHANAN.COM     •     linkedin.com/in/shasuvathanan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3041" y="63459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60">
                <a:solidFill>
                  <a:srgbClr val="FFD4DA"/>
                </a:solidFill>
                <a:latin typeface="Segoe UI Semibold"/>
              </a:rPr>
              <a:t>PHASE-005  •  LLM FOUNDATIONS AND PRACTICAL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PHASE-005 · COMPLETE 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The Ten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From the meaning of the three letters in LLM to a model running locally on your own laptop.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73405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LLM and Its Types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the three letters mean, and how a prompt becomes an answer.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73405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Open-Source LLM vs Cloud LLM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Two families of model — and how to read a model card properly.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94176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694176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4069080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13048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Closed-Source LLM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four major players, their platforms, and exactly what you pay.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694176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694176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4069080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813048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How to Purchase API Keys for Closed LLMs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One key, ten dollars, and the setting that stops it running away.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29200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029200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540410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148072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LLM Benchmarks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How models are measured, and how to turn a score into a decision.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5029200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5029200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540410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5148072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Essential AI Tools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Three categories of tool, and the small free set we actually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PHASE-005 · COMPLETE 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The Ten Topics (continued)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second half moves from tools and platforms to running open models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1207008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120700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76148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Hugging Face Spaces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AI world's social platform, and the free apps running inside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1207008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120700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76148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Pulling an Open-Source Model from Hugging Face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Method one — pull a model with Python and run it on your machine.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49039"/>
            <a:ext cx="5337032" cy="1207008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749039"/>
            <a:ext cx="50292" cy="120700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415137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67911"/>
            <a:ext cx="436776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Running an Open-Source Model Using Ollama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Method two — install, pull, run. The easiest local path there 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749039"/>
            <a:ext cx="5337032" cy="1207008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749039"/>
            <a:ext cx="50292" cy="120700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415137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867911"/>
            <a:ext cx="436776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Open-Source Model with Ollama — Hands-On Practice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Install Ollama, run Qwen2.5 0.5B, and capture two screenshots.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LLM and Its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Start with the fundamentals. Once you understand how an LLM works, every term that follows has somewhere to land.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What Large, Language and Model each mean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five-step journey from prompt to answer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Tokens, embeddings and next-word prediction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model family tree and where each type is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Six sub-topics that take you from the meaning of the three letters to the full family of model 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73405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What Is an LLM?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Large + Language + Model, decoded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73405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How an LLM Works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five-step input-to-output journey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94176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694176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4069080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1.3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13048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Tokens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How your sentence is cut into billable units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694176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694176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4069080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1.4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813048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Embeddings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Turning meaning into mathematics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29200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029200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540410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148072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Attention &amp; Prediction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Why answers arrive word by word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5029200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5029200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540410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1.6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5148072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Model Family Tree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LLM · LMM · SLM · VLM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04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1.1  Breaking Down the Three Letters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Every part of the name tells you something concrete about how the model was built.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LARGE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scale of the training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60350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Trained on massive datasets — 1 trillion data points is now normal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603503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553712"/>
            <a:ext cx="4852400" cy="60350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553712"/>
            <a:ext cx="4431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Earlier generations trained on millions, then billions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553712"/>
            <a:ext cx="50292" cy="603503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5248655"/>
            <a:ext cx="4852400" cy="60350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248655"/>
            <a:ext cx="4431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That jump in scale is why models feel so capable today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248655"/>
            <a:ext cx="50292" cy="603503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LANGUAGE + MODEL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form of the data and the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6608" y="3858768"/>
            <a:ext cx="4852400" cy="60350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6064" y="3858768"/>
            <a:ext cx="4431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Language is not only text — image, audio and video all 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6608" y="3858768"/>
            <a:ext cx="50292" cy="603503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16608" y="4553712"/>
            <a:ext cx="4852400" cy="60350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4553712"/>
            <a:ext cx="4431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Any human language works: ask in Tamil, get Tamil 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4553712"/>
            <a:ext cx="50292" cy="603503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5248655"/>
            <a:ext cx="4852400" cy="60350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5248655"/>
            <a:ext cx="4431776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Model = a neural-network engine that generates the answer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5248655"/>
            <a:ext cx="50292" cy="603503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05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1.2  How an LLM Actually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Five steps, all completed in milliseconds. Learn the flow, not the internal mathematics.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931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 type a prompt.
e.g. "Write a Python code for sum of two numbers"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5203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62675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2675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5061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8979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Encoder →
Tokens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8979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Your text is cut into tokens — the unit the model counts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10951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58423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58423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30808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4727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Embeddings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4727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Tokens become mathematical numbers that carry meaning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06698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54170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4170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26556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74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0474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Self-attention predicts the next word, again and again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402446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4991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4991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2230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622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Decoder →
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622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Embeddings become tokens, tokens become readable text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The same five steps run whether you use ChatGPT, Claude, Gemini or a model on your own laptop.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1.3  What Exactly Is a Token?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Tokens are the unit you are billed on — so it pays to know how your sentence is divided.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"Write a Python code for sum of two numbers"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8309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4613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4613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4613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6CEF4"/>
                </a:solidFill>
                <a:latin typeface="Segoe UI"/>
              </a:rPr>
              <a:t>"White sky is blue" plus a special character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9691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5995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995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5995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Roughly every word before a space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72000"/>
            <a:ext cx="5401040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572000"/>
            <a:ext cx="5401040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73168"/>
            <a:ext cx="4962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THE SIMPLE RULE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111496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Everything before a space is normally one token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434584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Special characters are counted separately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757672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long word such as "classification" is split into more than one token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4000" y="4572000"/>
            <a:ext cx="5401040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4000" y="4572000"/>
            <a:ext cx="5401040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3456" y="4773168"/>
            <a:ext cx="4962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WHY IT MATTERS</a:t>
            </a:r>
          </a:p>
        </p:txBody>
      </p:sp>
      <p:sp>
        <p:nvSpPr>
          <p:cNvPr id="40" name="Oval 39"/>
          <p:cNvSpPr/>
          <p:nvPr/>
        </p:nvSpPr>
        <p:spPr>
          <a:xfrm>
            <a:off x="6461744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1200" y="5111496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"Token usage is high" and "the cost went up" both trace back to this count</a:t>
            </a:r>
          </a:p>
        </p:txBody>
      </p:sp>
      <p:sp>
        <p:nvSpPr>
          <p:cNvPr id="42" name="Oval 41"/>
          <p:cNvSpPr/>
          <p:nvPr/>
        </p:nvSpPr>
        <p:spPr>
          <a:xfrm>
            <a:off x="6461744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81200" y="5434584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Each model has its own tokenisation algorithm</a:t>
            </a:r>
          </a:p>
        </p:txBody>
      </p:sp>
      <p:sp>
        <p:nvSpPr>
          <p:cNvPr id="44" name="Oval 43"/>
          <p:cNvSpPr/>
          <p:nvPr/>
        </p:nvSpPr>
        <p:spPr>
          <a:xfrm>
            <a:off x="6461744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81200" y="5757672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 never do this by hand — the system handles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07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1.4  Embeddings: Meaning as Mathematics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A machine does not understand natural language or code — it only understands numbers.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449060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449060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26282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39312"/>
            <a:ext cx="21564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Your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61104"/>
            <a:ext cx="215645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"Write a Python code for sum of two numbers"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089140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36612" y="2670048"/>
            <a:ext cx="2449060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36612" y="2670048"/>
            <a:ext cx="2449060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95966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2916" y="3639312"/>
            <a:ext cx="21564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Tokenised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2916" y="4261104"/>
            <a:ext cx="215645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sentence is split into tokens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58824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6296" y="2670048"/>
            <a:ext cx="2449060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6296" y="2670048"/>
            <a:ext cx="2449060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65650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2600" y="3639312"/>
            <a:ext cx="21564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Embedded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600" y="4261104"/>
            <a:ext cx="215645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Each token becomes a mathematical representation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828509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75981" y="2670048"/>
            <a:ext cx="2449060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75981" y="2670048"/>
            <a:ext cx="2449060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5335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2285" y="3639312"/>
            <a:ext cx="21564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Meaningful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2285" y="4261104"/>
            <a:ext cx="215645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numbers carry the meaning of the word and the sentence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Embedding = a mathematical representation of a meaningful word. This is the language the model actually thinks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08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1.5  Attention, Prediction and Decoding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Two ideas explain almost everything you see in a chat window.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NEXT-WORD PREDICTION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model does not store your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Even trained on 1 trillion data points, the data is not stored inside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What it holds is the ability to predict the next 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That is why answers stream out word by word, not as a finished paragraph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Self-attention checks the words already written to keep the answer correct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DECODING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Simply the reverse of the input path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generated answer first exists as embeddings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Embeddings are converted back into tokens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Tokens are converted back into readable words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Ask in English → English out. Ask in Tamil → Tamil out.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09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Architecture Families You Will Hear About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Three names get used constantly. You only need to recognise them — the internals are handled for you.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3503157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ENC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Encoder-only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302766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Focused on understanding the input rather than generating long 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4405" y="2670048"/>
            <a:ext cx="3503157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4405" y="2670048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82149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DEC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2149" y="3657600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Decoder-only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2149" y="4059935"/>
            <a:ext cx="302766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method used for generating answers. ChatGPT, Claude and Grok all sit 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1883" y="2670048"/>
            <a:ext cx="3503157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1883" y="2670048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59627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E+D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9627" y="3657600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Encoder-Decoder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9627" y="4059935"/>
            <a:ext cx="302766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Both stages combined, used where input must be understood and output regenerated.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Almost every chat model you use day to day is decoder-only.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10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1.6  The Model Family Tree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0064" y="2212848"/>
            <a:ext cx="3291840" cy="566928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Segoe UI Semibold"/>
              </a:rPr>
              <a:t>MODEL TYPES YOU WILL MEET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984" y="2779776"/>
            <a:ext cx="0" cy="256032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53180" y="3035808"/>
            <a:ext cx="8485609" cy="0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53180" y="3035808"/>
            <a:ext cx="0" cy="256032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" y="3291840"/>
            <a:ext cx="2572504" cy="2889503"/>
          </a:xfrm>
          <a:prstGeom prst="roundRect">
            <a:avLst>
              <a:gd name="adj" fmla="val 7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3291840"/>
            <a:ext cx="2572504" cy="60350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639312"/>
            <a:ext cx="2572504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291840"/>
            <a:ext cx="2353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Segoe UI Semibold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931920"/>
            <a:ext cx="231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83892"/>
                </a:solidFill>
                <a:latin typeface="Segoe UI Semibold"/>
              </a:rPr>
              <a:t>Large Language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480560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Trained on very large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974336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Originally text generation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468112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The industry workhorse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81716" y="3035808"/>
            <a:ext cx="0" cy="256032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95464" y="3291840"/>
            <a:ext cx="2572504" cy="2889503"/>
          </a:xfrm>
          <a:prstGeom prst="roundRect">
            <a:avLst>
              <a:gd name="adj" fmla="val 7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95464" y="3291840"/>
            <a:ext cx="2572504" cy="60350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5464" y="3639312"/>
            <a:ext cx="2572504" cy="256032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5192" y="3291840"/>
            <a:ext cx="2353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Segoe UI Semibold"/>
              </a:rPr>
              <a:t>LMM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3480" y="3931920"/>
            <a:ext cx="231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83892"/>
                </a:solidFill>
                <a:latin typeface="Segoe UI Semibold"/>
              </a:rPr>
              <a:t>Large Multimodal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41768" y="4480560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Text, audio and video 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41768" y="4974336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Most modern models are now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41768" y="5468112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Gemini and ChatGPT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10252" y="3035808"/>
            <a:ext cx="0" cy="256032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24000" y="3291840"/>
            <a:ext cx="2572504" cy="2889503"/>
          </a:xfrm>
          <a:prstGeom prst="roundRect">
            <a:avLst>
              <a:gd name="adj" fmla="val 7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24000" y="3291840"/>
            <a:ext cx="2572504" cy="60350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1B288E"/>
              </a:gs>
              <a:gs pos="100000">
                <a:srgbClr val="3846B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24000" y="3639312"/>
            <a:ext cx="2572504" cy="256032"/>
          </a:xfrm>
          <a:prstGeom prst="rect">
            <a:avLst/>
          </a:prstGeom>
          <a:solidFill>
            <a:srgbClr val="384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3728" y="3291840"/>
            <a:ext cx="2353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Segoe UI Semibold"/>
              </a:rPr>
              <a:t>SLM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2016" y="3931920"/>
            <a:ext cx="231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83892"/>
                </a:solidFill>
                <a:latin typeface="Segoe UI Semibold"/>
              </a:rPr>
              <a:t>Small Language Model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70304" y="4480560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Trained on less data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70304" y="4974336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Small enough to install locally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0304" y="5468112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Runs on your own machine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38789" y="3035808"/>
            <a:ext cx="0" cy="256032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052537" y="3291840"/>
            <a:ext cx="2572504" cy="2889503"/>
          </a:xfrm>
          <a:prstGeom prst="roundRect">
            <a:avLst>
              <a:gd name="adj" fmla="val 7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52537" y="3291840"/>
            <a:ext cx="2572504" cy="60350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E0334C"/>
              </a:gs>
              <a:gs pos="100000">
                <a:srgbClr val="FF4A6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2537" y="3639312"/>
            <a:ext cx="2572504" cy="25603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2265" y="3291840"/>
            <a:ext cx="2353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Segoe UI Semibold"/>
              </a:rPr>
              <a:t>VLM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0553" y="3931920"/>
            <a:ext cx="231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83892"/>
                </a:solidFill>
                <a:latin typeface="Segoe UI Semibold"/>
              </a:rPr>
              <a:t>Vision Language Model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98841" y="4480560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Object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98841" y="4974336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Video analysis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98841" y="5468112"/>
            <a:ext cx="2279896" cy="42062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Acts like eyes for the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Where Each Type Is Actually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Model type follows the use case — this is the practical takeaway of the whole topic.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1714434" cy="457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1309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Model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226" y="2359152"/>
            <a:ext cx="5474192" cy="457200"/>
          </a:xfrm>
          <a:prstGeom prst="roundRect">
            <a:avLst>
              <a:gd name="adj" fmla="val 14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What it handles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5282" y="2359152"/>
            <a:ext cx="3704894" cy="457200"/>
          </a:xfrm>
          <a:prstGeom prst="roundRect">
            <a:avLst>
              <a:gd name="adj" fmla="val 14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Typical home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89504"/>
            <a:ext cx="1714434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6226" y="2889504"/>
            <a:ext cx="54741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Large-data text work, the mainstream of the industry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5282" y="2889504"/>
            <a:ext cx="3704894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Industry and enterprise deployments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65576"/>
            <a:ext cx="1714434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LMM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6226" y="3465576"/>
            <a:ext cx="5474192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Text, image, audio and video generation together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5282" y="3465576"/>
            <a:ext cx="3704894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Google Gemini, ChatGPT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41648"/>
            <a:ext cx="1714434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SLM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6226" y="4041648"/>
            <a:ext cx="54741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Smaller data, lighter footprint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5282" y="4041648"/>
            <a:ext cx="3704894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Installed and used on your own machine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17720"/>
            <a:ext cx="1714434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VLM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6226" y="4617720"/>
            <a:ext cx="5474192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Object detection and video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5282" y="4617720"/>
            <a:ext cx="3704894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Camera, vision and video use cases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14416"/>
            <a:ext cx="11058113" cy="566928"/>
          </a:xfrm>
          <a:prstGeom prst="roundRect">
            <a:avLst>
              <a:gd name="adj" fmla="val 2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614416"/>
            <a:ext cx="50292" cy="56692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5614416"/>
            <a:ext cx="1055519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New model types keep appearing for new use cases. Don't memorise the list — understand how they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01 · LLM AND ITS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Key Takeaway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901952"/>
            <a:ext cx="11058113" cy="1968520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1901952"/>
            <a:ext cx="9777953" cy="1968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Understand how an LLM works, and every new term you meet afterwards has somewhere to land.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THE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Input → tokens → embeddings → LLM → decode → output. Five steps, every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4405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4405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8725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THE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8725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Tokens are what you are counted and charged 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1883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1883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6203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THE FAMILY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6203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LLM, LMM, SLM and VLM are the same idea sized and shaped for different jobs.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Open-Source LLM vs Cloud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Understand this one distinction and a great deal of the confusion around LLMs simply disappears.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Open source: the model file is yours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Closed source: usage rights, paid for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Where open models live — Ollama and Hugging Face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Capabilities, usage, context window and size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Understand this one distinction and a great deal of confusion disappears.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73405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2.1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Two Families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Open source vs closed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73405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2.2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Full Comparison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Access, cost, control and privacy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94176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694176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4069080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2.3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13048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Where to Find Them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Ollama and Hugging 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694176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694176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4069080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2.4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813048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Closed-Source Players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Four companies ruling the race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29200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029200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540410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2.5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148072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Reading a Model Card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Capabilities, usage, context, size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5029200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5029200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540410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2.6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5148072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Your Task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Decode one open-source model end to 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14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2.1  Two Families of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Every model you will ever use falls into one of these two buckets.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OPEN SOURCE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model file is yours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receive the actual model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Run it on your own laptop or your own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are free to change the model and use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We will do this practically, hands-on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CLOSED SOURCE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Usage only, never the file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provider lets you use the model — not own 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No model files are given to you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pay in order to use 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cannot make changes yourself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2.2  Open Source vs Cloud LLM, Side by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same question asked of both families.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73608" cy="786384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31273"/>
              </a:gs>
              <a:gs pos="100000">
                <a:srgbClr val="1B2A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OPEN SOURCE LLM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C2F0"/>
                </a:solidFill>
                <a:latin typeface="Segoe UI"/>
              </a:rPr>
              <a:t>Weights in your hands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1432" y="2359152"/>
            <a:ext cx="5373608" cy="786384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CLOUD / CLOSED LLM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DDE2"/>
                </a:solidFill>
                <a:latin typeface="Segoe UI"/>
              </a:rPr>
              <a:t>Access through a paid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73552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1432" y="3273552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273552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Model files are downloaded to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600" y="3273552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Usage rights only, through the provider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9640" y="3281172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63696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432" y="3663696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663696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Your laptop, your server, your VM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600" y="3663696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The provider's cloud infrastructure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9640" y="3671315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53840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51432" y="4053840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053840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No API cost once the model is downloaded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600" y="4053840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Pay per million input and output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9640" y="4061460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COST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43983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51432" y="4443983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43983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Free to modify and adapt the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2600" y="4443983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No changes possible on your side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9640" y="4451603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CUSTOMISATION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34128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51432" y="4834128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834128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Data stays on the machine you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2600" y="4834128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Requests travel to the provider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9640" y="4841748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PRIVACY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224272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51432" y="5224272"/>
            <a:ext cx="5373608" cy="29870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224272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Your RAM and GPU decide speed and quality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2600" y="5224272"/>
            <a:ext cx="5007848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Provider-scale hardware, nothing to manage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9640" y="5231891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INFRASTRUCTURE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614416"/>
            <a:ext cx="11058113" cy="566928"/>
          </a:xfrm>
          <a:prstGeom prst="roundRect">
            <a:avLst>
              <a:gd name="adj" fmla="val 2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614416"/>
            <a:ext cx="50292" cy="56692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7" y="5614416"/>
            <a:ext cx="1055519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Both are valid paths to using an LLM. Choose by use case, not by preference.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2.3  Where Open-Source Models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Two platforms cover almost everything you will need.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42032" cy="85953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54864" cy="85953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761488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Ollama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Open the Models section and every model listed there is open source and directly downloadable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3099815"/>
            <a:ext cx="1661144" cy="960120"/>
          </a:xfrm>
          <a:prstGeom prst="line">
            <a:avLst/>
          </a:prstGeom>
          <a:ln w="22225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4590288"/>
            <a:ext cx="2542032" cy="85953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590288"/>
            <a:ext cx="54864" cy="85953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681728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Hugging Face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Models, Datasets and Spaces — the same open models, plus far more around them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108960" y="4059935"/>
            <a:ext cx="1661144" cy="960121"/>
          </a:xfrm>
          <a:prstGeom prst="line">
            <a:avLst/>
          </a:prstGeom>
          <a:ln w="22225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83009" y="2670048"/>
            <a:ext cx="2542032" cy="85953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70177" y="2670048"/>
            <a:ext cx="54864" cy="85953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2465" y="2761488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Your laptop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Small models sized to the RAM you actually have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421864" y="3099815"/>
            <a:ext cx="1661145" cy="960120"/>
          </a:xfrm>
          <a:prstGeom prst="line">
            <a:avLst/>
          </a:prstGeom>
          <a:ln w="22225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83009" y="4590288"/>
            <a:ext cx="2542032" cy="85953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70177" y="4590288"/>
            <a:ext cx="54864" cy="85953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2465" y="4681728"/>
            <a:ext cx="21031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Your server / VM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Where larger open models genuinely belong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21864" y="4059935"/>
            <a:ext cx="1661145" cy="960121"/>
          </a:xfrm>
          <a:prstGeom prst="line">
            <a:avLst/>
          </a:prstGeom>
          <a:ln w="22225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70104" y="3529583"/>
            <a:ext cx="2651760" cy="1060704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2984" y="3529583"/>
            <a:ext cx="228600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OPEN SOURCE MODELS</a:t>
            </a:r>
          </a:p>
          <a:p>
            <a:pPr algn="ctr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FFE2E7"/>
                </a:solidFill>
                <a:latin typeface="Segoe UI"/>
              </a:rPr>
              <a:t>Free to download and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Filter by parameter size on either platform — from 0.5 billion up to models in the hundreds of billions.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17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2.4  The Closed-Source Players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Many companies exist, but four are currently ruling the industry.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parent company of ChatGPT. Player number one in the closed-source race.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036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0036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37780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7780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Anthropic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7780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company behind Claude.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144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3144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0888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xAI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888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xAI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888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Elon Musk's company — the maker of Grok.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6253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6253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03997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3997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Google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3997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Gemini, from Google DeepMind.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Each of them ships frontier models — models proven on benchmark reports to work better than a human at a given task.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18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2.5  How to Read a Model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Four things to note down for every model you evaluate. This is a skill, and you build it by repeating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Vision — analyses an image or video like an eye.
Tools — calls Gmail, Slack and other tools to complete a task.
Thinking — reasons before generating, instead of answering straight away.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036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0036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37780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7780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Usage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7780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What the model is actually built for — the kind of work where it is worth reaching for.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144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3144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0888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888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Context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888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How much input the model can take in at once, measured in tokens.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6253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6253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03997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3997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3997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parameter count the model was trained with, and the download size on disk.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Context Window, Explained Simply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single most misunderstood number on a model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64464" cy="3822191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359152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999232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359152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THE DOOR ANALOGY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Why size limits matter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47872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3547872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Picture a house with one small door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547872"/>
            <a:ext cx="50292" cy="507491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146804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4146804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 very large almirah simply will not go through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46804"/>
            <a:ext cx="50292" cy="507491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45736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4745736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Whatever you send has to fit through that opening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745736"/>
            <a:ext cx="50292" cy="507491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344668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5344668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context window is that door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344668"/>
            <a:ext cx="50292" cy="507491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0576" y="2359152"/>
            <a:ext cx="5364464" cy="3822191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0576" y="2359152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0576" y="2999232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4896" y="2359152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IN PRACTICE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Input capacity, in tokens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6608" y="3547872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6064" y="3547872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 256K window accepts about 2.56 lakh tokens of input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16608" y="3547872"/>
            <a:ext cx="50292" cy="507491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16608" y="4146804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6064" y="4146804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Send 3 lakh tokens and the model cannot take it 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6608" y="4146804"/>
            <a:ext cx="50292" cy="507491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16608" y="4745736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6064" y="4745736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Context window = how much input an LLM can accept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16608" y="4745736"/>
            <a:ext cx="50292" cy="507491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16608" y="5344668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6064" y="5344668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Parameters are the separate measure — the scale it was trained 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16608" y="5344668"/>
            <a:ext cx="50292" cy="507491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Model Cards Decoded — Worked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Three real open models read the same way, so the pattern becomes automatic.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1935596" cy="457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1309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7388" y="2359152"/>
            <a:ext cx="2599083" cy="457200"/>
          </a:xfrm>
          <a:prstGeom prst="roundRect">
            <a:avLst>
              <a:gd name="adj" fmla="val 14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1335" y="2359152"/>
            <a:ext cx="1493271" cy="457200"/>
          </a:xfrm>
          <a:prstGeom prst="roundRect">
            <a:avLst>
              <a:gd name="adj" fmla="val 14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9471" y="2359152"/>
            <a:ext cx="4810705" cy="457200"/>
          </a:xfrm>
          <a:prstGeom prst="roundRect">
            <a:avLst>
              <a:gd name="adj" fmla="val 14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What stands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89504"/>
            <a:ext cx="1935596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Kimi K2.7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7388" y="2889504"/>
            <a:ext cx="2599083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1.04 trillion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1335" y="2889504"/>
            <a:ext cx="1493271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256K 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59471" y="2889504"/>
            <a:ext cx="4810705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Built on K2.6, tuned for long-horizon coding; 30% lower thinking-token usage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65576"/>
            <a:ext cx="1935596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LFM 2.5 8B A1B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57388" y="3465576"/>
            <a:ext cx="2599083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8 billion parameters · 5.2 GB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1335" y="3465576"/>
            <a:ext cx="1493271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125K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59471" y="3465576"/>
            <a:ext cx="4810705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An edge model — built for small devices; text input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41648"/>
            <a:ext cx="1935596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Gemma (E2B)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57388" y="4041648"/>
            <a:ext cx="2599083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7.2 GB on disk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1335" y="4041648"/>
            <a:ext cx="1493271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See model card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59471" y="4041648"/>
            <a:ext cx="4810705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Edge-device family; over 14 million downloads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14416"/>
            <a:ext cx="11058113" cy="566928"/>
          </a:xfrm>
          <a:prstGeom prst="roundRect">
            <a:avLst>
              <a:gd name="adj" fmla="val 2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614416"/>
            <a:ext cx="50292" cy="56692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614416"/>
            <a:ext cx="1055519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1.04 trillion parameters available as open source is a genuinely big deal.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02 · OPEN SOURCE VS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21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2.6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2.6  Your Task for This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Pick one open-source model and decode it completely, then write it 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Choose one open-source model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From Ollama or Hugging Face — any model that interests you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576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0032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808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Note the capabilities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Vision, tools, thinking — record all four items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Note the usage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the model is designed and recommended for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576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0032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3808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Note the context window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How much input it can understand at 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Note the size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Parameter count and the download size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0576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80032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3808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Note the input types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Text, image, audio, video — which ones it accepts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Record it in your sheet. This is the first practical task of the phase.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Closed-Source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You never touch the model. You touch an API — and understanding that ecosystem is what makes you effective with it.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How a request travels from your app to the model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Frontier models versus specialised models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Input and output pricing per million tokens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Context window, max output and knowledge cutoff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A full tour of the closed-source side — who the players are, how the platforms are laid out, and how you are charged.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Ecosystem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How a request actually travels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3.2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Players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Four companies and their founders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3.3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Inside a Platform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Walking the OpenAI docs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3.4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Frontier vs Specialised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Two different jobs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3.5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Pricing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Input tokens vs output tokens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3.6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Limits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Context, max output, knowledge cutoff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3.7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Other Consoles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Anthropic · xAI · Google · Moonshot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800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800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2575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3.8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268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Your Task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Decode five closed models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23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3.1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3.1  The Closed-Source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You never touch the model. You touch an API — and the provider does the rest.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931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You / your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Your application, script or no-code tool sends a prompt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5203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62675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2675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5061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8979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API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8979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Your paid key authenticates and meters the request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10951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58423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58423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30808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4727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Cloud provider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4727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OpenAI, Anthropic, xAI or Google receives it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06698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54170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4170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26556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74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Proprietary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0474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model runs on their hardware — files never leave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402446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4991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4991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2230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622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Response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622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Generated output returns to your application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This is exactly why it is called closed source: you get the answer, never the weights.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24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3.2  The Players and the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These are the names that come up again and again in the AI race.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Sam Altman.
The parent company of ChatGPT.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036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0036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37780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7780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Anthropic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7780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Dario Amodei.
The company behind Claude.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144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3144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0888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xAI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888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xAI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888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Elon Musk.
The company behind Grok.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6253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6253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03997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3997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Google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3997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Sundar Pichai.
The company behind Gemini.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The "who is first" competition you keep hearing about is this race, between these four.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25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3.3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3.3  Walking an Actual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OpenAI platform, step by step — the same shape repeats on every provider.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7" y="3059430"/>
            <a:ext cx="0" cy="2796540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07014" y="2925196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2779776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3" y="2779776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Open platform.openai.com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79776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Search for it and open the platform site</a:t>
            </a:r>
          </a:p>
        </p:txBody>
      </p:sp>
      <p:sp>
        <p:nvSpPr>
          <p:cNvPr id="21" name="Oval 20"/>
          <p:cNvSpPr/>
          <p:nvPr/>
        </p:nvSpPr>
        <p:spPr>
          <a:xfrm>
            <a:off x="707014" y="3484504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3339084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3" y="3339084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Sign in with Google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339084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This is closed source — nothing is visible until you log in</a:t>
            </a:r>
          </a:p>
        </p:txBody>
      </p:sp>
      <p:sp>
        <p:nvSpPr>
          <p:cNvPr id="25" name="Oval 24"/>
          <p:cNvSpPr/>
          <p:nvPr/>
        </p:nvSpPr>
        <p:spPr>
          <a:xfrm>
            <a:off x="707014" y="4043812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53312" y="3898392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9343" y="3898392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Search for "models" in the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898392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You land in the developer documentation</a:t>
            </a:r>
          </a:p>
        </p:txBody>
      </p:sp>
      <p:sp>
        <p:nvSpPr>
          <p:cNvPr id="29" name="Oval 28"/>
          <p:cNvSpPr/>
          <p:nvPr/>
        </p:nvSpPr>
        <p:spPr>
          <a:xfrm>
            <a:off x="707014" y="4603120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3312" y="4457700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3" y="4457700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Read the frontier models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57700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GPT-5.5, GPT-5.4, GPT-5.4 mini and the rest, each with a model ID</a:t>
            </a:r>
          </a:p>
        </p:txBody>
      </p:sp>
      <p:sp>
        <p:nvSpPr>
          <p:cNvPr id="33" name="Oval 32"/>
          <p:cNvSpPr/>
          <p:nvPr/>
        </p:nvSpPr>
        <p:spPr>
          <a:xfrm>
            <a:off x="707014" y="5162428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3312" y="5017008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9343" y="5017008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Check reasoning types and pricing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5017008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Per-model reasoning options and per-million-token rates</a:t>
            </a:r>
          </a:p>
        </p:txBody>
      </p:sp>
      <p:sp>
        <p:nvSpPr>
          <p:cNvPr id="37" name="Oval 36"/>
          <p:cNvSpPr/>
          <p:nvPr/>
        </p:nvSpPr>
        <p:spPr>
          <a:xfrm>
            <a:off x="707014" y="5721736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53312" y="5576316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3" y="5576316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Check context, max output and cutoff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5576316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The three limits that decide whether a model fits your use case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3.4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3.4  Frontier vs Specialised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Every closed-source catalogue splits into these two shelves.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FRONTIER MODELS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general-purpose flagships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Built for complex reasoning and best-in-class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Designed to work beyond human level on hard tasks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GPT-5.5, GPT-5.4, GPT-5.4 mini and nano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This is where the headline benchmark numbers come from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SPECIALISED MODELS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One job, done extremely well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Image generation — GPT Image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Real-time speech and translation — GPT Realtime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Speech and text-to-speech — GPT-4o mini TTS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Transcription and other single-purpose endpoints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27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3.5  What You Actually 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Prices are quoted per 1 million tokens. The gap between the flagship and the small models is enormous.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66928" y="2670048"/>
          <a:ext cx="11058113" cy="285292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5614416"/>
            <a:ext cx="11058113" cy="566928"/>
          </a:xfrm>
          <a:prstGeom prst="roundRect">
            <a:avLst>
              <a:gd name="adj" fmla="val 2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14416"/>
            <a:ext cx="50292" cy="56692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614416"/>
            <a:ext cx="1055519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Output on the flagship is charged at $30 per million tokens — very high. Throughout this phase we use mini and nano only.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Why Input Cost Dominates Your Bill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A detail that changes how you design every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64464" cy="3822191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359152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999232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359152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INPUT IS THE BIG NUMBER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You send a 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47872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3547872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Understanding your input is where the volume goes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547872"/>
            <a:ext cx="50292" cy="507491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146804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4146804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Long prompts, documents and context all count as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46804"/>
            <a:ext cx="50292" cy="507491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45736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4745736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"Write a Python code for sum of two numbers" alone is 10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745736"/>
            <a:ext cx="50292" cy="507491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344668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5344668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1 million input tokens on the flagship costs $5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344668"/>
            <a:ext cx="50292" cy="507491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0576" y="2359152"/>
            <a:ext cx="5364464" cy="3822191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0576" y="2359152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0576" y="2999232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4896" y="2359152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OUTPUT IS THE SMALL NUMBER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model sends back less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6608" y="3547872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6064" y="3547872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Generation is usually far smaller than the input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16608" y="3547872"/>
            <a:ext cx="50292" cy="507491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16608" y="4146804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6064" y="4146804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will rarely hit 1 million output tokens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6608" y="4146804"/>
            <a:ext cx="50292" cy="507491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16608" y="4745736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6064" y="4745736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But it is priced much higher — $30 per million on the flagship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16608" y="4745736"/>
            <a:ext cx="50292" cy="507491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16608" y="5344668"/>
            <a:ext cx="4852400" cy="5074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6064" y="5344668"/>
            <a:ext cx="4431776" cy="5074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So keep prompts tight and pick the smallest model that works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16608" y="5344668"/>
            <a:ext cx="50292" cy="507491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29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3.6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3.6  The Three Limits That Matter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Read these before you commit a model to any application.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400K – 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CONTEXT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How much input the model can take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8309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4613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128K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4613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MAX OUTPUT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4613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6CEF4"/>
                </a:solidFill>
                <a:latin typeface="Segoe UI"/>
              </a:rPr>
              <a:t>The ceiling on a single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9691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5995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Fixed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995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KNOWLEDGE CUTOFF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5995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Nothing after that date is known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72000"/>
            <a:ext cx="3515349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572000"/>
            <a:ext cx="3515349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73168"/>
            <a:ext cx="307643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CONTEXT WINDOW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111496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Currently up to 1 million tokens on the top models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434584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Roughly four times what many open models offer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757672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400K is already more than enough for our use cases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8309" y="4572000"/>
            <a:ext cx="3515349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38309" y="4572000"/>
            <a:ext cx="3515349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7765" y="4773168"/>
            <a:ext cx="307643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MAX OUTPUT</a:t>
            </a:r>
          </a:p>
        </p:txBody>
      </p:sp>
      <p:sp>
        <p:nvSpPr>
          <p:cNvPr id="40" name="Oval 39"/>
          <p:cNvSpPr/>
          <p:nvPr/>
        </p:nvSpPr>
        <p:spPr>
          <a:xfrm>
            <a:off x="4576053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95509" y="5111496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128K tokens is the maximum in one generation</a:t>
            </a:r>
          </a:p>
        </p:txBody>
      </p:sp>
      <p:sp>
        <p:nvSpPr>
          <p:cNvPr id="42" name="Oval 41"/>
          <p:cNvSpPr/>
          <p:nvPr/>
        </p:nvSpPr>
        <p:spPr>
          <a:xfrm>
            <a:off x="4576053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95509" y="5434584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Push past it and you get hallucinated output</a:t>
            </a:r>
          </a:p>
        </p:txBody>
      </p:sp>
      <p:sp>
        <p:nvSpPr>
          <p:cNvPr id="44" name="Oval 43"/>
          <p:cNvSpPr/>
          <p:nvPr/>
        </p:nvSpPr>
        <p:spPr>
          <a:xfrm>
            <a:off x="4576053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95509" y="5757672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Longer results should be generated in two or three passes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9691" y="4572000"/>
            <a:ext cx="3515349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09691" y="4572000"/>
            <a:ext cx="3515349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9147" y="4773168"/>
            <a:ext cx="307643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KNOWLEDGE CUTOFF</a:t>
            </a:r>
          </a:p>
        </p:txBody>
      </p:sp>
      <p:sp>
        <p:nvSpPr>
          <p:cNvPr id="49" name="Oval 48"/>
          <p:cNvSpPr/>
          <p:nvPr/>
        </p:nvSpPr>
        <p:spPr>
          <a:xfrm>
            <a:off x="8347435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66891" y="5111496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model only knows data up to its cutoff date</a:t>
            </a:r>
          </a:p>
        </p:txBody>
      </p:sp>
      <p:sp>
        <p:nvSpPr>
          <p:cNvPr id="51" name="Oval 50"/>
          <p:cNvSpPr/>
          <p:nvPr/>
        </p:nvSpPr>
        <p:spPr>
          <a:xfrm>
            <a:off x="8347435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66891" y="5434584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Ask about later events and it cannot answer</a:t>
            </a:r>
          </a:p>
        </p:txBody>
      </p:sp>
      <p:sp>
        <p:nvSpPr>
          <p:cNvPr id="53" name="Oval 52"/>
          <p:cNvSpPr/>
          <p:nvPr/>
        </p:nvSpPr>
        <p:spPr>
          <a:xfrm>
            <a:off x="8347435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6891" y="5757672"/>
            <a:ext cx="2820405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This is why web search is bolted on — and why RAG exists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30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3.7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3.7  The Other Consoles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Same pattern, four more doors. Search the console name, log in with Google, open the models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72504" cy="277977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072384"/>
            <a:ext cx="2572504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670048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ANTHROPIC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401568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Claude platform / console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858768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Opus 4.8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229100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Sonnet 4.6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599432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Haiku 4.5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69764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Full model list after login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5464" y="2670048"/>
            <a:ext cx="2572504" cy="277977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95464" y="2670048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95464" y="3072384"/>
            <a:ext cx="2572504" cy="256032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5192" y="2670048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xAI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1768" y="3401568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console.x.ai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41768" y="3858768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Grok 4.3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1768" y="4229100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Voice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41768" y="4599432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Image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41768" y="4969764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Notably cheap image generation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4000" y="2670048"/>
            <a:ext cx="2572504" cy="277977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24000" y="2670048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24000" y="3072384"/>
            <a:ext cx="2572504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3728" y="2670048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GOOGLE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304" y="3401568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ai.google.dev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0304" y="3858768"/>
            <a:ext cx="2279896" cy="411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Gemini model family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70304" y="4352544"/>
            <a:ext cx="2279896" cy="411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Context windows past 1 million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0304" y="4846320"/>
            <a:ext cx="2279896" cy="411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Capabilities and cost per model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37" y="2670048"/>
            <a:ext cx="2572504" cy="277977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37" y="2670048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37" y="3072384"/>
            <a:ext cx="2572504" cy="256032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65" y="2670048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MOONSHOT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8841" y="3401568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platform.moonshot / Kimi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98841" y="3858768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Kimi K2.7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98841" y="4229100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Developer console and docs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98841" y="4599432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Billing unit and pricing page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98841" y="4969764"/>
            <a:ext cx="2279896" cy="288036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Open weights plus a cheap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Chinese labs often do both: release the model file openly and also sell API access to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03 · CLOSED-SOURCE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31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3.8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3.8  Your Task for This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Do for closed models exactly what you did for the open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Pick five models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Across OpenAI, Anthropic, xAI and Google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576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0032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808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Record the capabilities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each model can actually 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Record the context window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Input capacity in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576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0032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3808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Record the max output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Generation ceiling per request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Record the cost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Input and output price per million tokens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0576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80032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3808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Record the comparison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One sheet, five models, same columns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Learning to find capabilities and cost yourself is the real skill being built here.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How to Purchase API Keys for Closed LLMs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A short, practical topic with one clear instruction and one very important warning.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Why the OpenAI key is the one to buy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full purchase flow, step by step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Why auto top-up must be disabled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Handling the secret key safely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One key, ten dollars, and a set of guard rails learned the expensive 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4.1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Why Only OpenAI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Compatibility beats variety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4.2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$10 Rule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Budget and model discipline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4.3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Purchase Flow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Billing to secret key, step by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4.4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Payment Cards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works and what gets blocked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4.5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$250 Lesson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Why auto top-up must be 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4.6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Key Safety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Handling the secret you just created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4.7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What You Can Build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the key unlocks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800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800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2575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4.8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268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Your Checklist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Before you move 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33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4.1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4.1  Buy One Key. Only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There are keys available from OpenAI, Anthropic, Grok, Gemini and Kimi. Purchase the OpenAI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WHY THIS ONE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Compatibility is the whole reason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OpenAI API format has the widest compatibility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Any framework you pick will plug into it easily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No-code tools connect to it without friction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Fewer issues, fewer blockers, more building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THE REQUEST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Stated plainly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Purchase the OpenAI API key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Top it up with $10 — not more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Do not jump to other providers while learning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One request, and it is worth honouring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34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4.2  The Budget and the Model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Two numbers to hold on to for the whole phase.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$10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TOTAL TOP-UP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That is genuinely all you need to 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8309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4613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4613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FIRST CHOICE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4613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6CEF4"/>
                </a:solidFill>
                <a:latin typeface="Segoe UI"/>
              </a:rPr>
              <a:t>Use the mini model wherever it 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9691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5995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nano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995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CHEAPEST 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5995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$0.20 per million input tokens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72000"/>
            <a:ext cx="5401040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572000"/>
            <a:ext cx="5401040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73168"/>
            <a:ext cx="4962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WHY MINI AND NANO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111496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Every time we develop or implement, use mini or nano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434584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Very low cost with genuinely good intelligence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757672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Fast, with high reasoning for what they cost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4000" y="4572000"/>
            <a:ext cx="5401040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4000" y="4572000"/>
            <a:ext cx="5401040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3456" y="4773168"/>
            <a:ext cx="4962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WHERE THE FLAGSHIP FITS</a:t>
            </a:r>
          </a:p>
        </p:txBody>
      </p:sp>
      <p:sp>
        <p:nvSpPr>
          <p:cNvPr id="40" name="Oval 39"/>
          <p:cNvSpPr/>
          <p:nvPr/>
        </p:nvSpPr>
        <p:spPr>
          <a:xfrm>
            <a:off x="6461744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1200" y="5111496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top model is very costly for everyday learning</a:t>
            </a:r>
          </a:p>
        </p:txBody>
      </p:sp>
      <p:sp>
        <p:nvSpPr>
          <p:cNvPr id="42" name="Oval 41"/>
          <p:cNvSpPr/>
          <p:nvPr/>
        </p:nvSpPr>
        <p:spPr>
          <a:xfrm>
            <a:off x="6461744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81200" y="5434584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Save it for work that actually needs it</a:t>
            </a:r>
          </a:p>
        </p:txBody>
      </p:sp>
      <p:sp>
        <p:nvSpPr>
          <p:cNvPr id="44" name="Oval 43"/>
          <p:cNvSpPr/>
          <p:nvPr/>
        </p:nvSpPr>
        <p:spPr>
          <a:xfrm>
            <a:off x="6461744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81200" y="5757672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Our use cases run comfortably on the small models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35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4.3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4.3  The Purchase Flow, Step by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Follow this order exactly and nothing surprises you later.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7" y="3019479"/>
            <a:ext cx="0" cy="2876441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26190" y="2904421"/>
            <a:ext cx="230115" cy="230115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2779776"/>
            <a:ext cx="10271729" cy="479406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3" y="2779776"/>
            <a:ext cx="3520440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Open platform.openai.com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79776"/>
            <a:ext cx="6120353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Sign in — you will land on the platform page</a:t>
            </a:r>
          </a:p>
        </p:txBody>
      </p:sp>
      <p:sp>
        <p:nvSpPr>
          <p:cNvPr id="21" name="Oval 20"/>
          <p:cNvSpPr/>
          <p:nvPr/>
        </p:nvSpPr>
        <p:spPr>
          <a:xfrm>
            <a:off x="726190" y="3383828"/>
            <a:ext cx="230115" cy="230115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3259182"/>
            <a:ext cx="10271729" cy="479406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3" y="3259182"/>
            <a:ext cx="3520440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Search "billing" → Add credits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259182"/>
            <a:ext cx="6120353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The credits page is where the top-up happens</a:t>
            </a:r>
          </a:p>
        </p:txBody>
      </p:sp>
      <p:sp>
        <p:nvSpPr>
          <p:cNvPr id="25" name="Oval 24"/>
          <p:cNvSpPr/>
          <p:nvPr/>
        </p:nvSpPr>
        <p:spPr>
          <a:xfrm>
            <a:off x="726190" y="3863235"/>
            <a:ext cx="230115" cy="230115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53312" y="3738589"/>
            <a:ext cx="10271729" cy="479406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9343" y="3738589"/>
            <a:ext cx="3520440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Add a payment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738589"/>
            <a:ext cx="6120353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Card name, expiry and security code</a:t>
            </a:r>
          </a:p>
        </p:txBody>
      </p:sp>
      <p:sp>
        <p:nvSpPr>
          <p:cNvPr id="29" name="Oval 28"/>
          <p:cNvSpPr/>
          <p:nvPr/>
        </p:nvSpPr>
        <p:spPr>
          <a:xfrm>
            <a:off x="726190" y="4342642"/>
            <a:ext cx="230115" cy="230115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3312" y="4217996"/>
            <a:ext cx="10271729" cy="479406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3" y="4217996"/>
            <a:ext cx="3520440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Add $10 in credits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217996"/>
            <a:ext cx="6120353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Ten dollars only — no more while you are learning</a:t>
            </a:r>
          </a:p>
        </p:txBody>
      </p:sp>
      <p:sp>
        <p:nvSpPr>
          <p:cNvPr id="33" name="Oval 32"/>
          <p:cNvSpPr/>
          <p:nvPr/>
        </p:nvSpPr>
        <p:spPr>
          <a:xfrm>
            <a:off x="726190" y="4822049"/>
            <a:ext cx="230115" cy="230115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3312" y="4697403"/>
            <a:ext cx="10271729" cy="479406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9343" y="4697403"/>
            <a:ext cx="3520440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Disable auto top-up / auto renewal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697403"/>
            <a:ext cx="6120353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Find it, switch it off, and confirm it is off</a:t>
            </a:r>
          </a:p>
        </p:txBody>
      </p:sp>
      <p:sp>
        <p:nvSpPr>
          <p:cNvPr id="37" name="Oval 36"/>
          <p:cNvSpPr/>
          <p:nvPr/>
        </p:nvSpPr>
        <p:spPr>
          <a:xfrm>
            <a:off x="726190" y="5301456"/>
            <a:ext cx="230115" cy="230115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53312" y="5176810"/>
            <a:ext cx="10271729" cy="479406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3" y="5176810"/>
            <a:ext cx="3520440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Go to API keys → Create new secret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5176810"/>
            <a:ext cx="6120353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Give it a clear name, for example "GenAI learnings"</a:t>
            </a:r>
          </a:p>
        </p:txBody>
      </p:sp>
      <p:sp>
        <p:nvSpPr>
          <p:cNvPr id="41" name="Oval 40"/>
          <p:cNvSpPr/>
          <p:nvPr/>
        </p:nvSpPr>
        <p:spPr>
          <a:xfrm>
            <a:off x="726190" y="5780862"/>
            <a:ext cx="230115" cy="230115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53312" y="5656217"/>
            <a:ext cx="10271729" cy="479406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09343" y="5656217"/>
            <a:ext cx="3520440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Copy and store the key safely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0368" y="5656217"/>
            <a:ext cx="6120353" cy="47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This key is now your access to every OpenAI model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4.4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4.4  Payment Cards — What Actually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A practical detail that stops many people at the last step.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WHAT WORKS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International-enabled cards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Foreign / international transactions must be enabled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Visa and Mastercard are the usual routes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If yours is blocked, a friend's card is a common workaround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only need it to clear a single $10 charge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WHAT TO EXPECT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Common blockers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Some debit cards are simply blocked for these payments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charge is small — bank-side limits are rarely the issue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Enter card name, expiry and security code exactly as issued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Once the payment method is added, add the $10 credit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37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4.5  The $250 Lesson — Turn Auto Top-Up 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212848"/>
            <a:ext cx="11058113" cy="1825508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2212848"/>
            <a:ext cx="9777953" cy="1825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"I enabled auto renewal. Something went into a loop and ran for two days. It cost around $250. That is the mistake I regret — and the one I am correcting for you."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WHAT HAPPENED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Auto-renewal stayed on while a process looped. It kept topping up and kept spending.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4405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4405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8725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8725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A runaway loop with auto top-up enabled has no ceiling. Without it, the spend simply stops.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1883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1883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6203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WHAT TO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6203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Find auto top-up or auto renewal, disable it, and verify it is disabled before you leave the page.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38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4.6  Handling the Key You Just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Treat the secret key like a password with a credit card attached to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16936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61488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Name the key clearly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"GenAI learnings" or similar, so you know what it is for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576" y="2670048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0032" y="2916936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808" y="2761488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Copy it at creation time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full secret is shown once — store it immediately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57600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904487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49039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Keep it out of your code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Never paste it directly into a script you will share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576" y="3657600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0032" y="3904487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3808" y="3749039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Keep it out of screenshots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Blur or crop it before posting anything publicly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45152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8920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36592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One key per purpose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Separate keys make it easy to revoke just 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0576" y="4645152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80032" y="48920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3808" y="4736592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Revoke anything exposed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If a key leaks, delete it and create a new one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39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4.7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4.7  What This One Key Unlocks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With the API key in place, every OpenAI model becomes reachable from your own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Gen AI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Build real applications on top of the models rather than only chatting with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036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0036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37780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7780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Automations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7780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Wire the model into workflows that run without you in the loop.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144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3144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0888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AGT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888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888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Agents and agentic systems that carry out multi-step tasks.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6253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6253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03997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Segoe UI Semibold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3997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Micro-SaaS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3997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Small products of your own, powered by the same API.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Two paths exist to use an LLM: run it locally, or call it through an API. For learning, choose this path.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04 · PURCHASING API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40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4.8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4.8  Before You Move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Complete every line — this one matters.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$10 credits added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On platform.openai.com, nothing more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576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0032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808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Auto top-up disabled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Verified as off before leaving the page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Secret key created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Named, copied and stored safely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576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0032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3808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mini / nano selected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Your default models for this phase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No jumping to other providers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One key is enough for now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0576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80032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3808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Purchase logged in your notes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Record the date and the amount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Do not skip this. The rest of the journey builds directly on top of 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LLM Benchmarks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Reading benchmarks is a skill. Build it once and every future model release becomes easy to judge.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Why the right model matters for your use case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Finding benchmarks on release pages and release notes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What SWE-bench, HLE and GDPval actually measure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Mapping benchmark strengths onto your own work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05 · LLM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Reading benchmarks is a skill. Build it once and every future model release becomes easy to judge.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73405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5.1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Why Benchmarks Matter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Matching model to use case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73405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5.2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Where to Find Them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Release pages and release notes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94176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694176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4069080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5.3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13048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Reading a Scorecard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worked 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694176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694176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4069080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5.4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813048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Benchmark Families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each one measures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29200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029200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540410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5.5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148072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Aggregate Indexes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One profile, several axes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5029200"/>
            <a:ext cx="5337032" cy="1152144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5029200"/>
            <a:ext cx="50292" cy="115214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540410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5.6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5148072"/>
            <a:ext cx="4367768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Benchmark to Use Case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Turning scores into decisions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05 · LLM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42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5.1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5.1  Why You Should Care About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point is not the leaderboard. The point is choosing well.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WHAT THEY TELL YOU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Capability, measured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Every model is measured on what it can actually 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Scientists design and validate these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numbers are how a lab proves the model performs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They let you compare models on the same yardstick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WHY IT MATTERS TO YOU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Better output, less waste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Pick the model whose benchmarks match your use case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right model performs better in your application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Coding, image generation and reasoning are different strengths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Reading benchmarks is itself a skill worth building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05 · LLM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43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5.2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5.2  Where to Find a Model's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They will not arrive in your hand. You go and get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931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A model is released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Any model, any provider, any day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5203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62675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2675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5061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8979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Search the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8979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e.g. "Opus 4.8 release" in Google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10951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58423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58423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30808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4727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Open the release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4727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lab's own announcement or release notes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06698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54170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4170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26556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74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Read the benchmark section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0474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Scroll to the charts and the tables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402446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4991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4991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2230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622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Note it against your use case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622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Record what it means for your work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Make this a habit: a new model appears, you read its benchmarks the same day.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05 · LLM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44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5.3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5.3  Reading a Scorecard — Software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SWE-bench measures the skills a software engineer needs. Higher is better.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66928" y="2670048"/>
          <a:ext cx="11058113" cy="285292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5614416"/>
            <a:ext cx="11058113" cy="566928"/>
          </a:xfrm>
          <a:prstGeom prst="roundRect">
            <a:avLst>
              <a:gd name="adj" fmla="val 2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14416"/>
            <a:ext cx="50292" cy="56692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614416"/>
            <a:ext cx="1055519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Figures as presented on the Opus 4.8 release page. Call a software engineer in and give them the same 100 tests — they would not score 69.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05 · LLM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45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5.4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5.4  The Benchmark Families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Four names cover most of what you will see on a release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SWE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SWE-bench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Software engineering. Every skill a developer needs, tested. Terminal work and coding in your IDE sit 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036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0036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37780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HLE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7780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Humanity's Last Exam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7780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Multi-discipline reasoning at the very hardest level. Ten PhDs and a mathematician would score in single digits.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144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3144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0888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GDP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888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GDPval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888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Knowledge work. Real economic tasks are evaluated and scored into a single number.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6253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6253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03997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FIN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3997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Domain benchmarks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3997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Financial analysis and other sector-specific tests, published alongside the headline numbers.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05 · LLM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5.5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5.5  Aggregate Indexes — One Model, Several Axes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Aggregators such as OpenRouter publish combined indexes so you can see a model's shape, not just one score.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66928" y="2670048"/>
          <a:ext cx="6903720" cy="351129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781544" y="2670048"/>
            <a:ext cx="3843497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81544" y="2670048"/>
            <a:ext cx="384349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2944368"/>
            <a:ext cx="33680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80">
                <a:solidFill>
                  <a:srgbClr val="031273"/>
                </a:solidFill>
                <a:latin typeface="Segoe UI Semibold"/>
              </a:rPr>
              <a:t>HOW TO READ IT</a:t>
            </a:r>
          </a:p>
        </p:txBody>
      </p:sp>
      <p:sp>
        <p:nvSpPr>
          <p:cNvPr id="20" name="Oval 19"/>
          <p:cNvSpPr/>
          <p:nvPr/>
        </p:nvSpPr>
        <p:spPr>
          <a:xfrm>
            <a:off x="8037575" y="3538727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429000"/>
            <a:ext cx="3075401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 high agentic score with a lower coding score tells you where the model belongs</a:t>
            </a:r>
          </a:p>
        </p:txBody>
      </p:sp>
      <p:sp>
        <p:nvSpPr>
          <p:cNvPr id="22" name="Oval 21"/>
          <p:cNvSpPr/>
          <p:nvPr/>
        </p:nvSpPr>
        <p:spPr>
          <a:xfrm>
            <a:off x="8037575" y="4187952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078224"/>
            <a:ext cx="3075401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Never take a single percentage as the whole answer</a:t>
            </a:r>
          </a:p>
        </p:txBody>
      </p:sp>
      <p:sp>
        <p:nvSpPr>
          <p:cNvPr id="24" name="Oval 23"/>
          <p:cNvSpPr/>
          <p:nvPr/>
        </p:nvSpPr>
        <p:spPr>
          <a:xfrm>
            <a:off x="8037575" y="4837176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727448"/>
            <a:ext cx="3075401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Compare the shape against what your application needs</a:t>
            </a:r>
          </a:p>
        </p:txBody>
      </p:sp>
      <p:sp>
        <p:nvSpPr>
          <p:cNvPr id="26" name="Oval 25"/>
          <p:cNvSpPr/>
          <p:nvPr/>
        </p:nvSpPr>
        <p:spPr>
          <a:xfrm>
            <a:off x="8037575" y="5486400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5376672"/>
            <a:ext cx="3075401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Open the aggregator, open the model, read the profile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05 · LLM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5.6  Turning Benchmarks Into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This is the whole point of the exercise.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2820245" cy="457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1309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If your job is...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2037" y="2359152"/>
            <a:ext cx="3262570" cy="457200"/>
          </a:xfrm>
          <a:prstGeom prst="roundRect">
            <a:avLst>
              <a:gd name="adj" fmla="val 14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Look at...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59471" y="2359152"/>
            <a:ext cx="4810705" cy="457200"/>
          </a:xfrm>
          <a:prstGeom prst="roundRect">
            <a:avLst>
              <a:gd name="adj" fmla="val 14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 Semibold"/>
              </a:rPr>
              <a:t>In practice, that points to...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89504"/>
            <a:ext cx="2820245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Writing and fixing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2037" y="2889504"/>
            <a:ext cx="326257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SWE-bench and the coding 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59471" y="2889504"/>
            <a:ext cx="4810705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Claude — strongest on coding in the figures shown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65576"/>
            <a:ext cx="2820245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Generating images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2037" y="3465576"/>
            <a:ext cx="3262570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specialised image model line-up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9471" y="3465576"/>
            <a:ext cx="4810705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GPT Image 2 for quality; xAI's image API for low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41648"/>
            <a:ext cx="2820245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Hard multi-step reasoning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2037" y="4041648"/>
            <a:ext cx="326257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Humanity's Last Exam, agentic index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59471" y="4041648"/>
            <a:ext cx="4810705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frontier models, where these scores are highest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617720"/>
            <a:ext cx="2820245" cy="512064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31273"/>
                </a:solidFill>
                <a:latin typeface="Segoe UI Semibold"/>
              </a:rPr>
              <a:t>Everyday, high-volume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2037" y="4617720"/>
            <a:ext cx="3262570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Cost per million tokens plus latency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59471" y="4617720"/>
            <a:ext cx="4810705" cy="512064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9525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27432" bIns="27432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mini and nano tier, which is what we 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14416"/>
            <a:ext cx="11058113" cy="566928"/>
          </a:xfrm>
          <a:prstGeom prst="roundRect">
            <a:avLst>
              <a:gd name="adj" fmla="val 2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614416"/>
            <a:ext cx="50292" cy="56692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5614416"/>
            <a:ext cx="1055519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Benchmarks point you in the right direction. Always validate on your own real use case before you commit.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05 · LLM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Key Takeaway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901952"/>
            <a:ext cx="11058113" cy="1968520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1901952"/>
            <a:ext cx="9777953" cy="1968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A model is released today. Read its benchmarks today. That single habit keeps you current for the rest of your career.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FIND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Search the release, open the lab's own page, scroll to the benchmarks.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4405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4405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8725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READ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8725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Note the scores against the tasks you actually care about.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1883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1883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6203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USE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6203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Choose the model whose strengths match your application — then verify it on your own data.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Essential AI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The rule for this phase is simple: do not spend money learning Gen AI tools.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three categories of AI tool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four free chat tools we actually use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AI code editors, desktop and web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AI-assisted versus agentic — the key distinction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06 · ESSENTIAL AI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There are lakhs of AI tools. We are deliberately using a very small number of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6.1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Zero-Spend Rule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No money on tools while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6.2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Tool Ecosystem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Three categories, mapped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6.3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Gen AI Chat Tools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four we actually 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6.4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AI Code Editors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Desktop and web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6.5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Agentic Tools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they are, and why later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6.6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Assisted vs Agentic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distinction that matters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6.7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Our Stack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you install today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800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800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2575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6.8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268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Your Checklist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Before you move 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06 · ESSENTIAL AI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50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6.1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6.1  The Rule for This Whole Phase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212848"/>
            <a:ext cx="11058113" cy="1825508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2212848"/>
            <a:ext cx="9777953" cy="1825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Do not spend money learning Gen AI tools. When something is genuinely needed, you will be told — then purchase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FREE VERSIONS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Every tool in this topic has a free tier that is enough for what we are doing.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4405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4405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8725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ESSENTIAL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8725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There are lakhs of AI tools. We use the essential ones and ignore the rest.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1883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1883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6203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TIME IS THE REAL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6203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Do not lose days mastering a tool you will not use. Go direct, open the chat, start working.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06 · ESSENTIAL AI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51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6.2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6.2  The AI Tool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Everything you will encounter falls into one of these three categories.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3515349" cy="277977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3515349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072384"/>
            <a:ext cx="3515349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670048"/>
            <a:ext cx="329589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GEN AI CHAT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401568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Your daily assistant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858768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ChatGPT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105656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Gemini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352544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Kimi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99431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Qwen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846319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DeepSeek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093207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Claude · Grok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8309" y="2670048"/>
            <a:ext cx="3515349" cy="277977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38309" y="2670048"/>
            <a:ext cx="3515349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8309" y="3072384"/>
            <a:ext cx="3515349" cy="256032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8037" y="2670048"/>
            <a:ext cx="329589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AI CODE EDITORS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4613" y="3401568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Where you build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4613" y="3858768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Desktop: Antigravity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4613" y="4105656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Cursor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4613" y="4352544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Replit · Kiro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4613" y="4599431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GitHub Copilot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4613" y="4846319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Web: Lovable · Bolt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4613" y="5093207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Emergent · Base44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9691" y="2670048"/>
            <a:ext cx="3515349" cy="277977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09691" y="2670048"/>
            <a:ext cx="3515349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9691" y="3072384"/>
            <a:ext cx="3515349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9419" y="2670048"/>
            <a:ext cx="329589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AGENTIC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5995" y="3401568"/>
            <a:ext cx="32227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Autonomous task execution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55995" y="3858768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OpenCode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55995" y="4105656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Purely for doing the task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55995" y="4352544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Development and task execution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55995" y="4599431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Prompt in, work done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55995" y="4846319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Covered in a later phase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5995" y="5093207"/>
            <a:ext cx="3222741" cy="16459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Not needed today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Know the categories so that when someone mentions a tool you can place it immediately.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06 · ESSENTIAL AI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52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6.3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6.3  The Chat Tools We Actually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Four tools, all free. Sign in normally and start using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GPT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ChatGPT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obvious starting point, and the one most people already have.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036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0036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37780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7780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Gemini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7780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Recommended over ChatGPT personally. Free, and Pro can be activated if you have access.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144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3144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0888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KIM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888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Kimi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888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Kimi Chat — free and capable. Do not go deeper into its extra features yet.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6253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6253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03997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QWN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3997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Qwen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3997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Qwen Studio generates images, slides and artifacts. Available on mobile too.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Claude and Grok are excellent but better on paid tiers — use them if you already have a subscription through work.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06 · ESSENTIAL AI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53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6.4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6.4  AI Code Editors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Two shapes: something you install, or something you open in a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DESKTOP APPS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Installed on your machine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32552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Antigravity IDE — from Google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325526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275734"/>
            <a:ext cx="4852400" cy="32552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275734"/>
            <a:ext cx="4431776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Cursor — installs and behaves like VS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275734"/>
            <a:ext cx="50292" cy="325526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692700"/>
            <a:ext cx="4852400" cy="32552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692700"/>
            <a:ext cx="4431776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Replit and Kiro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692700"/>
            <a:ext cx="50292" cy="325526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109667"/>
            <a:ext cx="4852400" cy="32552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109667"/>
            <a:ext cx="4431776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GitHub Copilot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109667"/>
            <a:ext cx="50292" cy="325526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526633"/>
            <a:ext cx="4852400" cy="32552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5526633"/>
            <a:ext cx="4431776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All of these are built on top of the VS Code 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526633"/>
            <a:ext cx="50292" cy="325526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WEB APPS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Nothing to install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Lovable, Bolt, Emergent, Base44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Open the site and give it a prompt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 landing page, web page or full site comes back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Again, it is prompt craft that decides the quality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06 · ESSENTIAL AI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54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6.6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6.6  AI-Assisted vs Agentic — The Key Distinction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One line separates everything in the tool landscape.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AI-ASSISTED TASK / CODING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This is what we learn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use AI to help you finish a 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stay in the loop and make the decisions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tool accelerates you; it does not replace you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This is the part of the map we are learning right now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AGENTIC CODING / TASK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This comes later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give a prompt and the tool does the work itself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Meant purely for doing development and executing tasks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Powerful — and covered properly in a later phase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Set this part aside for now; it is not the focus yet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06 · ESSENTIAL AI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55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6.7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6.7  Your Stack for This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This is all you install and use today.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7223760" cy="76809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54864" cy="7680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670048"/>
            <a:ext cx="26974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VS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2670048"/>
            <a:ext cx="3803904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Everything we build is done here. Not Cursor, not Antigravity — those can wait.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032504" y="3442715"/>
            <a:ext cx="292608" cy="137160"/>
          </a:xfrm>
          <a:prstGeom prst="downArrow">
            <a:avLst/>
          </a:prstGeom>
          <a:solidFill>
            <a:srgbClr val="FFC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584448"/>
            <a:ext cx="7223760" cy="768096"/>
          </a:xfrm>
          <a:prstGeom prst="roundRect">
            <a:avLst>
              <a:gd name="adj" fmla="val 1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584448"/>
            <a:ext cx="54864" cy="768096"/>
          </a:xfrm>
          <a:prstGeom prst="rect">
            <a:avLst/>
          </a:prstGeom>
          <a:gradFill rotWithShape="1">
            <a:gsLst>
              <a:gs pos="0">
                <a:srgbClr val="031273"/>
              </a:gs>
              <a:gs pos="100000">
                <a:srgbClr val="28389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584448"/>
            <a:ext cx="26974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Four free chat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3584448"/>
            <a:ext cx="3803904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ChatGPT, Gemini, Kimi and Qwen. DeepSeek if you like. Completely free — there is no payment.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032504" y="4357116"/>
            <a:ext cx="292608" cy="137160"/>
          </a:xfrm>
          <a:prstGeom prst="downArrow">
            <a:avLst/>
          </a:prstGeom>
          <a:solidFill>
            <a:srgbClr val="FFC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498848"/>
            <a:ext cx="7223760" cy="76809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54864" cy="7680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498848"/>
            <a:ext cx="26974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OpenAI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4498848"/>
            <a:ext cx="3803904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$10 key from the previous topic. One key, and mini or nano models.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4032504" y="5271516"/>
            <a:ext cx="292608" cy="137160"/>
          </a:xfrm>
          <a:prstGeom prst="downArrow">
            <a:avLst/>
          </a:prstGeom>
          <a:solidFill>
            <a:srgbClr val="FFC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5413248"/>
            <a:ext cx="7223760" cy="768096"/>
          </a:xfrm>
          <a:prstGeom prst="roundRect">
            <a:avLst>
              <a:gd name="adj" fmla="val 1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413248"/>
            <a:ext cx="54864" cy="768096"/>
          </a:xfrm>
          <a:prstGeom prst="rect">
            <a:avLst/>
          </a:prstGeom>
          <a:gradFill rotWithShape="1">
            <a:gsLst>
              <a:gs pos="0">
                <a:srgbClr val="031273"/>
              </a:gs>
              <a:gs pos="100000">
                <a:srgbClr val="28389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413248"/>
            <a:ext cx="26974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Nothing else, for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5413248"/>
            <a:ext cx="3803904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Cursor and Antigravity are optional. Agentic tools belong to a later phase.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1" y="2670048"/>
            <a:ext cx="3505169" cy="3511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19871" y="2670048"/>
            <a:ext cx="3505169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5" y="2962656"/>
            <a:ext cx="302968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WHY SO RESTRAINED</a:t>
            </a:r>
          </a:p>
        </p:txBody>
      </p:sp>
      <p:sp>
        <p:nvSpPr>
          <p:cNvPr id="38" name="Oval 37"/>
          <p:cNvSpPr/>
          <p:nvPr/>
        </p:nvSpPr>
        <p:spPr>
          <a:xfrm>
            <a:off x="8375903" y="3547872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3438144"/>
            <a:ext cx="27187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Most tools you see are wrappers</a:t>
            </a:r>
          </a:p>
        </p:txBody>
      </p:sp>
      <p:sp>
        <p:nvSpPr>
          <p:cNvPr id="40" name="Oval 39"/>
          <p:cNvSpPr/>
          <p:nvPr/>
        </p:nvSpPr>
        <p:spPr>
          <a:xfrm>
            <a:off x="8375903" y="4114799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1936" y="4005072"/>
            <a:ext cx="27187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will be able to build them yourself</a:t>
            </a:r>
          </a:p>
        </p:txBody>
      </p:sp>
      <p:sp>
        <p:nvSpPr>
          <p:cNvPr id="42" name="Oval 41"/>
          <p:cNvSpPr/>
          <p:nvPr/>
        </p:nvSpPr>
        <p:spPr>
          <a:xfrm>
            <a:off x="8375903" y="4681727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31936" y="4572000"/>
            <a:ext cx="27187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goal is to become a system builder, not a tool user</a:t>
            </a:r>
          </a:p>
        </p:txBody>
      </p:sp>
      <p:sp>
        <p:nvSpPr>
          <p:cNvPr id="44" name="Oval 43"/>
          <p:cNvSpPr/>
          <p:nvPr/>
        </p:nvSpPr>
        <p:spPr>
          <a:xfrm>
            <a:off x="8375903" y="5248655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1936" y="5138928"/>
            <a:ext cx="27187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Be confident — this is genuinely within reach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06 · ESSENTIAL AI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6.8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6.8  Before You Move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Short list, quickly done.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Sign in to the four chat tools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ChatGPT, Gemini, Kimi, Qwen — free accounts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576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0032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808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Activate Gemini Pro if eligible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Free where you already have access through your 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Keep VS Code as your editor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This is where all the building happens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576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0032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3808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Do not purchase any tool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Free versions are enough for everything ahead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Recognise the three categories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Chat tools, code editors, agentic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0576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80032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3808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Park the agentic tools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Know they exist; return to them in a later phase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Prompt craft is what unlocks these tools. That is a topic of its own, and it is coming.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Hugging Face Spaces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Someone has already built the thing you need, published it free, and left it running in your browser.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What Hugging Face is and how the site is laid out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How a Space works: model → app → interface → you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Image generation, OCR, upscaling and more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A live walkthrough from prompt to output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07 · HUGGING FACE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social media platform of the AI world — and the free apps sitting inside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7.1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What Hugging Face Is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Social media for AI developers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7.2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Site Map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Models, Datasets, Spaces, Buckets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7.3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What Spaces Are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Working apps, built by the community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7.4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How a Space Works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Model → app → interface →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7.5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Categories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What you will find inside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7.6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 Live Walkthrough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Image generation, end to 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7.7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High-Value Spaces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OCR and image upscaling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800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800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2575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7.8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268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Your Action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Explore and shortlist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07 · HUGGING FACE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58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7.1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7.1  What Hugging Face Actually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If social media is where people post, this is where AI companies post their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THE PLATFORM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Social media for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Large AI companies and small teams alike publish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AI products and models they build are released openly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model files themselves are made available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You download them and run them on your own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WHAT THAT MEANS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Full access, mostly free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Around 90% of what you see is free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About 10% are gated models offered for purchase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Pricing is visible on the Pricing tab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If a model is open source, it is available here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07 · HUGGING FACE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59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7.2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7.2  The Site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Type "hugging face" into your browser, open the first result, and this is the interface you land 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7250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072384"/>
            <a:ext cx="2572504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670048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401568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The open model catalogue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858768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Every open-source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370831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Complete model details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882896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Files and versions tab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394960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Filter by parameter size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5464" y="2670048"/>
            <a:ext cx="257250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95464" y="2670048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95464" y="3072384"/>
            <a:ext cx="2572504" cy="256032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5192" y="2670048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DATASETS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1768" y="3401568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Training and evaluation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41768" y="3858768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Public datasets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1768" y="4370831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Paired with the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41768" y="4882896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Free to browse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4000" y="2670048"/>
            <a:ext cx="257250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24000" y="2670048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4000" y="3072384"/>
            <a:ext cx="2572504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3728" y="2670048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SPACES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0304" y="3401568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Working applications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70304" y="3858768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Live demo apps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0304" y="4370831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Built by the community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70304" y="4882896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Run in your browser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0304" y="5394960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Our main focus in this topic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37" y="2670048"/>
            <a:ext cx="257250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37" y="2670048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37" y="3072384"/>
            <a:ext cx="2572504" cy="256032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65" y="2670048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MORE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8841" y="3401568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The rest of the platform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98841" y="3858768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Buckets — recently added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98841" y="4370831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Docs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98841" y="4882896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Enterprise plans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98841" y="5394960"/>
            <a:ext cx="2279896" cy="429768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Pricing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07 · HUGGING FACE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60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7.4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7.4  How a Space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Someone has already built the thing you need. You just use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931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Open-source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model sitting in the Hugging Face catalogue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5203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62675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2675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5061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8979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Space /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8979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developer wraps it into a working app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10951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58423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58423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30808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4727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Gradio or Streamlit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4727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Python UI framework that renders it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06698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54170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4170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26556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74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Interface in browser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0474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 type a prompt or upload a file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402446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4991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4991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2230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622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Output back to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622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result appears — no install, no cost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Gradio and Streamlit differ in name more than in purpose. Both are Python UI frameworks; if you know Streamlit, Gradio is simple.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07 · HUGGING FACE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61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7.5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7.5  What You Will Find Inside 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An enormous amount of real-world work has already been built and published for free.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3503157" cy="1645919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889504"/>
            <a:ext cx="457200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IMG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511296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Image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840479"/>
            <a:ext cx="302766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Prompt in, image out. FLUX.2 and many others are live and ready.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4405" y="2670048"/>
            <a:ext cx="3503157" cy="1645919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4405" y="2670048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82149" y="2889504"/>
            <a:ext cx="457200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VID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2149" y="3511296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Video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2149" y="3840479"/>
            <a:ext cx="302766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same idea applied to video output.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1883" y="2670048"/>
            <a:ext cx="3503157" cy="1645919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1883" y="2670048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59627" y="2889504"/>
            <a:ext cx="457200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9627" y="3511296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Text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9627" y="3840479"/>
            <a:ext cx="302766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Open text models running behind a simple interface.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535424"/>
            <a:ext cx="3503157" cy="1645919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535424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2" y="4754880"/>
            <a:ext cx="457200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376672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Language translation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705856"/>
            <a:ext cx="302766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Translate between languages without any setup.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4405" y="4535424"/>
            <a:ext cx="3503157" cy="1645919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4405" y="4535424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82149" y="4754880"/>
            <a:ext cx="457200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SPK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2149" y="5376672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Speech synthesis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2149" y="5705856"/>
            <a:ext cx="302766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Generate speech from text in the browser.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21883" y="4535424"/>
            <a:ext cx="3503157" cy="1645919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1883" y="4535424"/>
            <a:ext cx="3503157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59627" y="4754880"/>
            <a:ext cx="457200" cy="45720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9627" y="5376672"/>
            <a:ext cx="302766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31273"/>
                </a:solidFill>
                <a:latin typeface="Segoe UI Semibold"/>
              </a:rPr>
              <a:t>Sentiment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9627" y="5705856"/>
            <a:ext cx="302766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Classic NLP tasks, performed directly inside a Space.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07 · HUGGING FACE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62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7.6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7.6  A Live Walkthrough — Image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Exactly the steps demonstrated in the walkthrough.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7" y="3059430"/>
            <a:ext cx="0" cy="2796540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07014" y="2925196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2779776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3" y="2779776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Open huggingface.co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79776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First result in the search, then open the interface</a:t>
            </a:r>
          </a:p>
        </p:txBody>
      </p:sp>
      <p:sp>
        <p:nvSpPr>
          <p:cNvPr id="21" name="Oval 20"/>
          <p:cNvSpPr/>
          <p:nvPr/>
        </p:nvSpPr>
        <p:spPr>
          <a:xfrm>
            <a:off x="707014" y="3484504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3339084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3" y="3339084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Click 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339084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This is the area that matters most for productivity</a:t>
            </a:r>
          </a:p>
        </p:txBody>
      </p:sp>
      <p:sp>
        <p:nvSpPr>
          <p:cNvPr id="25" name="Oval 24"/>
          <p:cNvSpPr/>
          <p:nvPr/>
        </p:nvSpPr>
        <p:spPr>
          <a:xfrm>
            <a:off x="707014" y="4043812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53312" y="3898392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9343" y="3898392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Choose the Image Generation 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898392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A large number of models appear under it</a:t>
            </a:r>
          </a:p>
        </p:txBody>
      </p:sp>
      <p:sp>
        <p:nvSpPr>
          <p:cNvPr id="29" name="Oval 28"/>
          <p:cNvSpPr/>
          <p:nvPr/>
        </p:nvSpPr>
        <p:spPr>
          <a:xfrm>
            <a:off x="707014" y="4603120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3312" y="4457700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3" y="4457700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Open a model — for example FLUX.2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57700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The app interface loads directly in the browser</a:t>
            </a:r>
          </a:p>
        </p:txBody>
      </p:sp>
      <p:sp>
        <p:nvSpPr>
          <p:cNvPr id="33" name="Oval 32"/>
          <p:cNvSpPr/>
          <p:nvPr/>
        </p:nvSpPr>
        <p:spPr>
          <a:xfrm>
            <a:off x="707014" y="5162428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3312" y="5017008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9343" y="5017008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Type your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5017008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"Generating a cute boy standing in beach" — optionally add a reference image</a:t>
            </a:r>
          </a:p>
        </p:txBody>
      </p:sp>
      <p:sp>
        <p:nvSpPr>
          <p:cNvPr id="37" name="Oval 36"/>
          <p:cNvSpPr/>
          <p:nvPr/>
        </p:nvSpPr>
        <p:spPr>
          <a:xfrm>
            <a:off x="707014" y="5721736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53312" y="5576316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3" y="5576316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Run and collect the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5576316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The image is generated right there, at no cost to you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07 · HUGGING FACE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63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7.7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7.7  The Two Spaces Worth Knowing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From genuine day-to-day use, these two deliver the most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OCR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Getting data out of documents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Scraping data out of a PDF is often painful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Paste or upload into an OCR Space and it extracts the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output comes back as clean Markdown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That makes everything downstream far easier to process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IMAGE UPSCALING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Restoring damaged images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Photographs where the pixels have degraded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Upscaling Spaces restore and sharpen them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Extremely useful and completely free to 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One of the most-used Spaces in practice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07 · HUGGING FACE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64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7.8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7.8  Your Action for This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reason this topic exists is simple: an enormous amount of free productivity is sitting there unused.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Open Spaces and browse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Give the whole catalogue an overall look first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576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0032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808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Try image generation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Run one prompt end to end and see the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Try an OCR Space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Push a PDF through it and look at the Markdown you get 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576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0032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3808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Try image upscaling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Restore a low-quality photograph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Note which ones fit your work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 only find out by actually using them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0576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80032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3808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Shortlist your favourites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Keep a short list you can return 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Everyone should try these. What is useful to you only becomes clear once you have used them yourself.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Pulling an Open-Source Model from Hugging 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A genuine skill worth having — and one that demands respect for your machine's limits.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Model sizes, RAM and the real risk of a crash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Project setup: VS Code, venv and packages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Creating an account and pulling the model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run script, line by line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Method one of two for running open-source models: Hugging Face plus Python.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8.1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Reality Check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Model sizes and machine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8.2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Two Methods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Where this one fits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8.3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Full Flow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Hub to local conversation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8.4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Project Setup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VS Code, venv, packages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8.5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Account and Login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Creating and verifying your account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8.6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Pulling the Model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download command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8.7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Run Script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Loading, tokenising, generating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800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800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2575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8.8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268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Making It Interactive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Real-time input and a UI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8.1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8.1  The Reality Check Before You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This is a skill worth having. It is not something to do casually on a low-spec laptop.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2–10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TYPICAL MODEL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Most open models are well above 2 GB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8309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4613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16 GB+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4613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RAM 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4613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6CEF4"/>
                </a:solidFill>
                <a:latin typeface="Segoe UI"/>
              </a:rPr>
              <a:t>Plus a good GPU for comfortable 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9691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5995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Real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995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OF A CRASH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5995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Laptops have been damaged doing this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72000"/>
            <a:ext cx="5401040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572000"/>
            <a:ext cx="5401040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73168"/>
            <a:ext cx="4962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WHERE THIS BELONGS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111496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VM or server your company provides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434584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high-end machine you already own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757672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 must know the steps for when that day comes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4000" y="4572000"/>
            <a:ext cx="5401040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4000" y="4572000"/>
            <a:ext cx="5401040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3456" y="4773168"/>
            <a:ext cx="4962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WHERE IT DOES NOT</a:t>
            </a:r>
          </a:p>
        </p:txBody>
      </p:sp>
      <p:sp>
        <p:nvSpPr>
          <p:cNvPr id="40" name="Oval 39"/>
          <p:cNvSpPr/>
          <p:nvPr/>
        </p:nvSpPr>
        <p:spPr>
          <a:xfrm>
            <a:off x="6461744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1200" y="5111496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low-capacity laptop running a large model</a:t>
            </a:r>
          </a:p>
        </p:txBody>
      </p:sp>
      <p:sp>
        <p:nvSpPr>
          <p:cNvPr id="42" name="Oval 41"/>
          <p:cNvSpPr/>
          <p:nvPr/>
        </p:nvSpPr>
        <p:spPr>
          <a:xfrm>
            <a:off x="6461744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81200" y="5434584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Running large models locally is not recommended</a:t>
            </a:r>
          </a:p>
        </p:txBody>
      </p:sp>
      <p:sp>
        <p:nvSpPr>
          <p:cNvPr id="44" name="Oval 43"/>
          <p:cNvSpPr/>
          <p:nvPr/>
        </p:nvSpPr>
        <p:spPr>
          <a:xfrm>
            <a:off x="6461744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81200" y="5757672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Learn the method — choose the machine carefully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67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8.2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8.2  Two Methods to Run an Open-Source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Both are covered in this phase. This topic is method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METHOD 1 — HUGGING FACE + PYTHON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This topic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Pull the model files directly from Hugging Face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Load them with a Python script in VS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Full control over tokeniser, model and generation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method you need for a VM or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METHOD 2 — OLLAMA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next topic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 tool that wraps the whole process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Far easier to run models on your local 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One command to pull, one command to run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Covered in full in Topic 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68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8.3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8.3  The Full Flow, End to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Six stages from the Hugging Face Hub to a conversation on your own machine.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1492498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1492498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8001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39312"/>
            <a:ext cx="119989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Hugging Face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61104"/>
            <a:ext cx="119989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Browse Models and pick one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32578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80050" y="2670048"/>
            <a:ext cx="1492498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0050" y="2670048"/>
            <a:ext cx="1492498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61124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6354" y="3639312"/>
            <a:ext cx="119989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Select a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6354" y="4261104"/>
            <a:ext cx="119989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Check size, downloads and the files tab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045701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93173" y="2670048"/>
            <a:ext cx="1492498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93173" y="2670048"/>
            <a:ext cx="1492498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74247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9477" y="3639312"/>
            <a:ext cx="119989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Pull / download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9477" y="4261104"/>
            <a:ext cx="119989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hf download into a local directory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958824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6296" y="2670048"/>
            <a:ext cx="1492498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6296" y="2670048"/>
            <a:ext cx="1492498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87370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2600" y="3639312"/>
            <a:ext cx="119989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Local 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2600" y="4261104"/>
            <a:ext cx="119989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Files land in ./models on your disk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871947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19419" y="2670048"/>
            <a:ext cx="1492498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19419" y="2670048"/>
            <a:ext cx="1492498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0049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5723" y="3639312"/>
            <a:ext cx="119989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Model files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5723" y="4261104"/>
            <a:ext cx="119989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Weights, tokeniser and config, all local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785070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132542" y="2670048"/>
            <a:ext cx="1492498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32542" y="2670048"/>
            <a:ext cx="1492498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13616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8846" y="3639312"/>
            <a:ext cx="119989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Ready to run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78846" y="4261104"/>
            <a:ext cx="119989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Python script loads it and you chat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This method stays identical wherever you do it — laptop, VM or server. Learn the method, not the machine.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69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8.4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8.4  Project Setup in VS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Create the project, isolate the environment, install the packages.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7086600" cy="3511296"/>
          </a:xfrm>
          <a:prstGeom prst="roundRect">
            <a:avLst>
              <a:gd name="adj" fmla="val 4500"/>
            </a:avLst>
          </a:prstGeom>
          <a:solidFill>
            <a:srgbClr val="051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7086600" cy="420624"/>
          </a:xfrm>
          <a:prstGeom prst="roundRect">
            <a:avLst>
              <a:gd name="adj" fmla="val 16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944368"/>
            <a:ext cx="7086600" cy="146304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" y="2811779"/>
            <a:ext cx="132588" cy="13258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9264" y="2811779"/>
            <a:ext cx="132588" cy="132588"/>
          </a:xfrm>
          <a:prstGeom prst="ellipse">
            <a:avLst/>
          </a:prstGeom>
          <a:solidFill>
            <a:srgbClr val="FF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0432" y="2811779"/>
            <a:ext cx="132588" cy="132588"/>
          </a:xfrm>
          <a:prstGeom prst="ellipse">
            <a:avLst/>
          </a:prstGeom>
          <a:solidFill>
            <a:srgbClr val="3BD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1328" y="2670048"/>
            <a:ext cx="5989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ACE8"/>
                </a:solidFill>
                <a:latin typeface="Consolas"/>
              </a:rPr>
              <a:t>Command Prompt  —  project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236976"/>
            <a:ext cx="6519672" cy="2724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 i="1">
                <a:solidFill>
                  <a:srgbClr val="7A88C8"/>
                </a:solidFill>
                <a:latin typeface="Consolas"/>
              </a:rPr>
              <a:t># 1. Create a project folder and open it in VS Code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 i="1">
                <a:solidFill>
                  <a:srgbClr val="7A88C8"/>
                </a:solidFill>
                <a:latin typeface="Consolas"/>
              </a:rPr>
              <a:t># 2. Open Terminal &gt; New Terminal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 i="1">
                <a:solidFill>
                  <a:srgbClr val="7A88C8"/>
                </a:solidFill>
                <a:latin typeface="Consolas"/>
              </a:rPr>
              <a:t>#    Click the dropdown and select Command Prompt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 i="1">
                <a:solidFill>
                  <a:srgbClr val="7A88C8"/>
                </a:solidFill>
                <a:latin typeface="Consolas"/>
              </a:rPr>
              <a:t>#    Do NOT use PowerShell for this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>
                <a:solidFill>
                  <a:srgbClr val="FF4A62"/>
                </a:solidFill>
                <a:latin typeface="Consolas"/>
              </a:rPr>
              <a:t>&gt; python -m venv venv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>
                <a:solidFill>
                  <a:srgbClr val="FF4A62"/>
                </a:solidFill>
                <a:latin typeface="Consolas"/>
              </a:rPr>
              <a:t>&gt; venv\Scripts\activate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>
                <a:solidFill>
                  <a:srgbClr val="5FE0B4"/>
                </a:solidFill>
                <a:latin typeface="Consolas"/>
              </a:rPr>
              <a:t>   (venv) environment is now active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>
                <a:solidFill>
                  <a:srgbClr val="FF4A62"/>
                </a:solidFill>
                <a:latin typeface="Consolas"/>
              </a:rPr>
              <a:t>&gt; cls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 i="1">
                <a:solidFill>
                  <a:srgbClr val="7A88C8"/>
                </a:solidFill>
                <a:latin typeface="Consolas"/>
              </a:rPr>
              <a:t># 3. Install the packages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91" b="0">
                <a:solidFill>
                  <a:srgbClr val="FF4A62"/>
                </a:solidFill>
                <a:latin typeface="Consolas"/>
              </a:rPr>
              <a:t>&gt; pip install transformers torch huggingface_hub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1" y="2670048"/>
            <a:ext cx="3642329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82711" y="2670048"/>
            <a:ext cx="3642329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3" y="2980944"/>
            <a:ext cx="313026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WATCH FOR</a:t>
            </a:r>
          </a:p>
        </p:txBody>
      </p:sp>
      <p:sp>
        <p:nvSpPr>
          <p:cNvPr id="27" name="Oval 26"/>
          <p:cNvSpPr/>
          <p:nvPr/>
        </p:nvSpPr>
        <p:spPr>
          <a:xfrm>
            <a:off x="8238743" y="3538727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1" y="3474720"/>
            <a:ext cx="281936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Select Command Prompt in the terminal dropdown — close PowerShell</a:t>
            </a:r>
          </a:p>
        </p:txBody>
      </p:sp>
      <p:sp>
        <p:nvSpPr>
          <p:cNvPr id="29" name="Oval 28"/>
          <p:cNvSpPr/>
          <p:nvPr/>
        </p:nvSpPr>
        <p:spPr>
          <a:xfrm>
            <a:off x="8238743" y="4251960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1" y="4187952"/>
            <a:ext cx="281936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Activate the environment before installing anything</a:t>
            </a:r>
          </a:p>
        </p:txBody>
      </p:sp>
      <p:sp>
        <p:nvSpPr>
          <p:cNvPr id="31" name="Oval 30"/>
          <p:cNvSpPr/>
          <p:nvPr/>
        </p:nvSpPr>
        <p:spPr>
          <a:xfrm>
            <a:off x="8238743" y="4965192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1" y="4901184"/>
            <a:ext cx="281936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Let every package finish installing before moving 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70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8.5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8.5  Hugging Face Account and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You need an account before you can pull anything.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7" y="3059430"/>
            <a:ext cx="0" cy="2796540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07014" y="2925196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2779776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3" y="2779776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Go to huggingface.co and sign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79776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Email address and a password</a:t>
            </a:r>
          </a:p>
        </p:txBody>
      </p:sp>
      <p:sp>
        <p:nvSpPr>
          <p:cNvPr id="21" name="Oval 20"/>
          <p:cNvSpPr/>
          <p:nvPr/>
        </p:nvSpPr>
        <p:spPr>
          <a:xfrm>
            <a:off x="707014" y="3484504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3339084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3" y="3339084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Choose a username and full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339084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This becomes your public profile</a:t>
            </a:r>
          </a:p>
        </p:txBody>
      </p:sp>
      <p:sp>
        <p:nvSpPr>
          <p:cNvPr id="25" name="Oval 24"/>
          <p:cNvSpPr/>
          <p:nvPr/>
        </p:nvSpPr>
        <p:spPr>
          <a:xfrm>
            <a:off x="707014" y="4043812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53312" y="3898392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9343" y="3898392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Accept the terms and create the 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898392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The account is created immediately</a:t>
            </a:r>
          </a:p>
        </p:txBody>
      </p:sp>
      <p:sp>
        <p:nvSpPr>
          <p:cNvPr id="29" name="Oval 28"/>
          <p:cNvSpPr/>
          <p:nvPr/>
        </p:nvSpPr>
        <p:spPr>
          <a:xfrm>
            <a:off x="707014" y="4603120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3312" y="4457700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3" y="4457700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Confirm the verification email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57700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Check your inbox — and your spam folder if it has not arrived</a:t>
            </a:r>
          </a:p>
        </p:txBody>
      </p:sp>
      <p:sp>
        <p:nvSpPr>
          <p:cNvPr id="33" name="Oval 32"/>
          <p:cNvSpPr/>
          <p:nvPr/>
        </p:nvSpPr>
        <p:spPr>
          <a:xfrm>
            <a:off x="707014" y="5162428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3312" y="5017008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9343" y="5017008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Log in from the terminal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5017008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Authenticate your local environment against the account</a:t>
            </a:r>
          </a:p>
        </p:txBody>
      </p:sp>
      <p:sp>
        <p:nvSpPr>
          <p:cNvPr id="37" name="Oval 36"/>
          <p:cNvSpPr/>
          <p:nvPr/>
        </p:nvSpPr>
        <p:spPr>
          <a:xfrm>
            <a:off x="707014" y="5721736"/>
            <a:ext cx="268467" cy="268467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53312" y="5576316"/>
            <a:ext cx="10271729" cy="559308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3" y="5576316"/>
            <a:ext cx="3520440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You are ready to pull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5576316"/>
            <a:ext cx="6120353" cy="559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The download command will now work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71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8.6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8.6  Pulling the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Pick a small model first. Your laptop will thank you.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7086600" cy="3511296"/>
          </a:xfrm>
          <a:prstGeom prst="roundRect">
            <a:avLst>
              <a:gd name="adj" fmla="val 4500"/>
            </a:avLst>
          </a:prstGeom>
          <a:solidFill>
            <a:srgbClr val="051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7086600" cy="420624"/>
          </a:xfrm>
          <a:prstGeom prst="roundRect">
            <a:avLst>
              <a:gd name="adj" fmla="val 16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944368"/>
            <a:ext cx="7086600" cy="146304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" y="2811779"/>
            <a:ext cx="132588" cy="13258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9264" y="2811779"/>
            <a:ext cx="132588" cy="132588"/>
          </a:xfrm>
          <a:prstGeom prst="ellipse">
            <a:avLst/>
          </a:prstGeom>
          <a:solidFill>
            <a:srgbClr val="FF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0432" y="2811779"/>
            <a:ext cx="132588" cy="132588"/>
          </a:xfrm>
          <a:prstGeom prst="ellipse">
            <a:avLst/>
          </a:prstGeom>
          <a:solidFill>
            <a:srgbClr val="3BD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1328" y="2670048"/>
            <a:ext cx="5989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ACE8"/>
                </a:solidFill>
                <a:latin typeface="Consolas"/>
              </a:rPr>
              <a:t>Command Prompt  —  download 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236976"/>
            <a:ext cx="6519672" cy="2724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A88C8"/>
                </a:solidFill>
                <a:latin typeface="Consolas"/>
              </a:rPr>
              <a:t># Ask for a very small model — the laptop is a small one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4A62"/>
                </a:solidFill>
                <a:latin typeface="Consolas"/>
              </a:rPr>
              <a:t>&gt; hf download Qwen/Qwen2.5-0.5B-Instruct \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4E9FF"/>
                </a:solidFill>
                <a:latin typeface="Consolas"/>
              </a:rPr>
              <a:t>      --local-dir ./models/qwen-0.5b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E0B4"/>
                </a:solidFill>
                <a:latin typeface="Consolas"/>
              </a:rPr>
              <a:t>   creating folder  ./models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E0B4"/>
                </a:solidFill>
                <a:latin typeface="Consolas"/>
              </a:rPr>
              <a:t>   creating folder  ./models/qwen-0.5b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E0B4"/>
                </a:solidFill>
                <a:latin typeface="Consolas"/>
              </a:rPr>
              <a:t>   downloading model files ...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E0B4"/>
                </a:solidFill>
                <a:latin typeface="Consolas"/>
              </a:rPr>
              <a:t>   done  (~1 GB of model files on disk)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1" y="2670048"/>
            <a:ext cx="3642329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82711" y="2670048"/>
            <a:ext cx="3642329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3" y="2980944"/>
            <a:ext cx="313026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SIZING GUIDE</a:t>
            </a:r>
          </a:p>
        </p:txBody>
      </p:sp>
      <p:sp>
        <p:nvSpPr>
          <p:cNvPr id="27" name="Oval 26"/>
          <p:cNvSpPr/>
          <p:nvPr/>
        </p:nvSpPr>
        <p:spPr>
          <a:xfrm>
            <a:off x="8238743" y="3538727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1" y="3474720"/>
            <a:ext cx="2819369" cy="635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TinyLlama 1.1B needs roughly 4–6 GB RAM</a:t>
            </a:r>
          </a:p>
        </p:txBody>
      </p:sp>
      <p:sp>
        <p:nvSpPr>
          <p:cNvPr id="29" name="Oval 28"/>
          <p:cNvSpPr/>
          <p:nvPr/>
        </p:nvSpPr>
        <p:spPr>
          <a:xfrm>
            <a:off x="8238743" y="4174236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1" y="4110228"/>
            <a:ext cx="2819369" cy="635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Qwen2.5 0.5B needs roughly 2–4 GB RAM</a:t>
            </a:r>
          </a:p>
        </p:txBody>
      </p:sp>
      <p:sp>
        <p:nvSpPr>
          <p:cNvPr id="31" name="Oval 30"/>
          <p:cNvSpPr/>
          <p:nvPr/>
        </p:nvSpPr>
        <p:spPr>
          <a:xfrm>
            <a:off x="8238743" y="4809744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1" y="4745736"/>
            <a:ext cx="2819369" cy="635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Qwen file itself is only around 500 MB</a:t>
            </a:r>
          </a:p>
        </p:txBody>
      </p:sp>
      <p:sp>
        <p:nvSpPr>
          <p:cNvPr id="33" name="Oval 32"/>
          <p:cNvSpPr/>
          <p:nvPr/>
        </p:nvSpPr>
        <p:spPr>
          <a:xfrm>
            <a:off x="8238743" y="5445252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1" y="5381244"/>
            <a:ext cx="2819369" cy="635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--local-dir decides exactly where the files land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72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8.7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8.7  The Run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Load the tokeniser, load the model, take input, generate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7086600" cy="3511296"/>
          </a:xfrm>
          <a:prstGeom prst="roundRect">
            <a:avLst>
              <a:gd name="adj" fmla="val 4500"/>
            </a:avLst>
          </a:prstGeom>
          <a:solidFill>
            <a:srgbClr val="051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7086600" cy="420624"/>
          </a:xfrm>
          <a:prstGeom prst="roundRect">
            <a:avLst>
              <a:gd name="adj" fmla="val 16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944368"/>
            <a:ext cx="7086600" cy="146304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" y="2811779"/>
            <a:ext cx="132588" cy="13258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9264" y="2811779"/>
            <a:ext cx="132588" cy="132588"/>
          </a:xfrm>
          <a:prstGeom prst="ellipse">
            <a:avLst/>
          </a:prstGeom>
          <a:solidFill>
            <a:srgbClr val="FF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0432" y="2811779"/>
            <a:ext cx="132588" cy="132588"/>
          </a:xfrm>
          <a:prstGeom prst="ellipse">
            <a:avLst/>
          </a:prstGeom>
          <a:solidFill>
            <a:srgbClr val="3BD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1328" y="2670048"/>
            <a:ext cx="5989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ACE8"/>
                </a:solidFill>
                <a:latin typeface="Consolas"/>
              </a:rPr>
              <a:t>opensource.py  —  run the local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236976"/>
            <a:ext cx="6519672" cy="2724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from transformers import AutoTokenizer, AutoModelForCausalLM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MODEL_PATH = "./models/qwen-0.5b"      # local model path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tokenizer = AutoTokenizer.from_pretrained(MODEL_PATH)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model     = AutoModelForCausalLM.from_pretrained(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   MODEL_PATH, torch_dtype="auto", device_map="cpu")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while True: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   user_input = input("\nYou: ")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   messages   = [{"role": "user", "content": user_input}]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   text       = tokenizer.apply_chat_template(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       messages, tokenize=False, add_generation_prompt=True)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   inputs     = tokenizer(text, return_tensors="pt")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   outputs    = model.generate(**inputs, max_new_tokens=200)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   print("\nAssistant:", tokenizer.decode(outputs[0]))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1" y="2670048"/>
            <a:ext cx="3642329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82711" y="2670048"/>
            <a:ext cx="3642329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3" y="2980944"/>
            <a:ext cx="313026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WHAT EACH STAGE DOES</a:t>
            </a:r>
          </a:p>
        </p:txBody>
      </p:sp>
      <p:sp>
        <p:nvSpPr>
          <p:cNvPr id="27" name="Oval 26"/>
          <p:cNvSpPr/>
          <p:nvPr/>
        </p:nvSpPr>
        <p:spPr>
          <a:xfrm>
            <a:off x="8238743" y="3538727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1" y="3474720"/>
            <a:ext cx="2819369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MODEL_PATH points at the folder you just downloaded</a:t>
            </a:r>
          </a:p>
        </p:txBody>
      </p:sp>
      <p:sp>
        <p:nvSpPr>
          <p:cNvPr id="29" name="Oval 28"/>
          <p:cNvSpPr/>
          <p:nvPr/>
        </p:nvSpPr>
        <p:spPr>
          <a:xfrm>
            <a:off x="8238743" y="4047134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1" y="3983126"/>
            <a:ext cx="2819369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tokeniser converts your text into tokens</a:t>
            </a:r>
          </a:p>
        </p:txBody>
      </p:sp>
      <p:sp>
        <p:nvSpPr>
          <p:cNvPr id="31" name="Oval 30"/>
          <p:cNvSpPr/>
          <p:nvPr/>
        </p:nvSpPr>
        <p:spPr>
          <a:xfrm>
            <a:off x="8238743" y="4555540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1" y="4491532"/>
            <a:ext cx="2819369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model loads its weights into memory</a:t>
            </a:r>
          </a:p>
        </p:txBody>
      </p:sp>
      <p:sp>
        <p:nvSpPr>
          <p:cNvPr id="33" name="Oval 32"/>
          <p:cNvSpPr/>
          <p:nvPr/>
        </p:nvSpPr>
        <p:spPr>
          <a:xfrm>
            <a:off x="8238743" y="5063947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1" y="4999939"/>
            <a:ext cx="2819369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generate() predicts the response token by token</a:t>
            </a:r>
          </a:p>
        </p:txBody>
      </p:sp>
      <p:sp>
        <p:nvSpPr>
          <p:cNvPr id="35" name="Oval 34"/>
          <p:cNvSpPr/>
          <p:nvPr/>
        </p:nvSpPr>
        <p:spPr>
          <a:xfrm>
            <a:off x="8238743" y="5572353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1" y="5508345"/>
            <a:ext cx="2819369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decode() turns the tokens back into readable text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73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8.8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8.8  What You Get, and What to Improve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model runs locally. Now make it usable.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WHAT YOU GAINED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A model of your 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No API cost — nothing at 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model runs on your own laptop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Run it for as long as you like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Speed and output quality follow your system's capability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WHAT TO FIX NEXT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From hard-coded to interactive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 hard-coded prompt means you cannot change the input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Take the input in real time inside the loop instead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Then wrap the same script in Streamlit for a UI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Input in the front end, model in the back, output on screen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08 · PULLING 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Troubleshooting and Good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errors are normal and solvable. The hardware limits are not.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" y="26060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450592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Errors will appear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Expect them, read them, solve them — that is part of the exercise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576" y="2359152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80032" y="26060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3808" y="2450592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Wait for the download to finish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partial download will not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46704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" y="3593592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438144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The laptop may stall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 large model on limited RAM can freeze the machine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0576" y="3346704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80032" y="3593592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3808" y="3438144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Watch your RAM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This is the single most important constraint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34256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4581144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425696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Start with the smallest model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0.5 billion parameters is a sensible first step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0576" y="4334256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0032" y="4581144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3808" y="4425696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Check the load messages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Tokeniser loaded, model loaded, weights loaded — then it is ready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Running an Open-Source Model Using Ollama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One command to pull, one command to run. This is the method you will actually reach for.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Ollama architecture, end to end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Install, verify and read the model library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Local models versus cloud models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Connecting to your app — and the production warning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What This Topic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Method two — and by far the easier of the two.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9.1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What Ollama Is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easiest way to run open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8008" y="2359152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8008" y="2359152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5752" y="2567178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9.2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680" y="2478024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Install and Verify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Download, install, check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9.3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Model Library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Local models vs cloud 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8008" y="3360420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8008" y="3360420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25752" y="3568446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9.4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2680" y="3479291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The Commands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Four you will use constantly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9.5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 Live Run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Pull and chat with a 400 MB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8008" y="4361688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8008" y="4361688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25752" y="4569714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9.6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2680" y="4480559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App vs Command Line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Why the CLI wins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9.7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Size vs Quality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honest trade-off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8008" y="5362956"/>
            <a:ext cx="5337032" cy="818387"/>
          </a:xfrm>
          <a:prstGeom prst="roundRect">
            <a:avLst>
              <a:gd name="adj" fmla="val 10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8008" y="5362956"/>
            <a:ext cx="50292" cy="81838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25752" y="5570982"/>
            <a:ext cx="402336" cy="402336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9.8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2680" y="5481828"/>
            <a:ext cx="4367768" cy="5989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Into Your Application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And the production warning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9.1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9.1  The Ollama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Open-source model → Ollama → your local machine → CLI or API → your application.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7223760" cy="585215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54864" cy="585215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670048"/>
            <a:ext cx="2697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Open-source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2670048"/>
            <a:ext cx="380390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Pulled once from the Ollama library and cached on your disk.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032504" y="3259835"/>
            <a:ext cx="292608" cy="137160"/>
          </a:xfrm>
          <a:prstGeom prst="downArrow">
            <a:avLst/>
          </a:prstGeom>
          <a:solidFill>
            <a:srgbClr val="FFC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401568"/>
            <a:ext cx="7223760" cy="585215"/>
          </a:xfrm>
          <a:prstGeom prst="roundRect">
            <a:avLst>
              <a:gd name="adj" fmla="val 1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01568"/>
            <a:ext cx="54864" cy="585215"/>
          </a:xfrm>
          <a:prstGeom prst="rect">
            <a:avLst/>
          </a:prstGeom>
          <a:gradFill rotWithShape="1">
            <a:gsLst>
              <a:gs pos="0">
                <a:srgbClr val="031273"/>
              </a:gs>
              <a:gs pos="100000">
                <a:srgbClr val="28389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401568"/>
            <a:ext cx="2697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Ollama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3401568"/>
            <a:ext cx="380390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tool that manages downloading, loading and serving the model for you.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032504" y="3991355"/>
            <a:ext cx="292608" cy="137160"/>
          </a:xfrm>
          <a:prstGeom prst="downArrow">
            <a:avLst/>
          </a:prstGeom>
          <a:solidFill>
            <a:srgbClr val="FFC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133087"/>
            <a:ext cx="7223760" cy="585215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133087"/>
            <a:ext cx="54864" cy="585215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133087"/>
            <a:ext cx="2697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Your local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4133087"/>
            <a:ext cx="380390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model runs entirely on your own hardware — no API, no cost.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4032504" y="4722875"/>
            <a:ext cx="292608" cy="137160"/>
          </a:xfrm>
          <a:prstGeom prst="downArrow">
            <a:avLst/>
          </a:prstGeom>
          <a:solidFill>
            <a:srgbClr val="FFC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4864608"/>
            <a:ext cx="7223760" cy="585215"/>
          </a:xfrm>
          <a:prstGeom prst="roundRect">
            <a:avLst>
              <a:gd name="adj" fmla="val 1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864608"/>
            <a:ext cx="54864" cy="585215"/>
          </a:xfrm>
          <a:prstGeom prst="rect">
            <a:avLst/>
          </a:prstGeom>
          <a:gradFill rotWithShape="1">
            <a:gsLst>
              <a:gs pos="0">
                <a:srgbClr val="031273"/>
              </a:gs>
              <a:gs pos="100000">
                <a:srgbClr val="28389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864608"/>
            <a:ext cx="2697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CLI or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4864608"/>
            <a:ext cx="380390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Chat from the command line, or call it from Python with the ollama package.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4032504" y="5454396"/>
            <a:ext cx="292608" cy="137160"/>
          </a:xfrm>
          <a:prstGeom prst="downArrow">
            <a:avLst/>
          </a:prstGeom>
          <a:solidFill>
            <a:srgbClr val="FFC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6928" y="5596127"/>
            <a:ext cx="7223760" cy="585215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596127"/>
            <a:ext cx="54864" cy="585215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596127"/>
            <a:ext cx="269748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Your local application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5596127"/>
            <a:ext cx="380390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Wire the running model into whatever you are building.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9871" y="2670048"/>
            <a:ext cx="3505169" cy="3511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9871" y="2670048"/>
            <a:ext cx="3505169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7615" y="2962656"/>
            <a:ext cx="302968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WHY IT EXISTS</a:t>
            </a:r>
          </a:p>
        </p:txBody>
      </p:sp>
      <p:sp>
        <p:nvSpPr>
          <p:cNvPr id="43" name="Oval 42"/>
          <p:cNvSpPr/>
          <p:nvPr/>
        </p:nvSpPr>
        <p:spPr>
          <a:xfrm>
            <a:off x="8375903" y="3547872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31936" y="3438144"/>
            <a:ext cx="27187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"The easiest way to build with open models"</a:t>
            </a:r>
          </a:p>
        </p:txBody>
      </p:sp>
      <p:sp>
        <p:nvSpPr>
          <p:cNvPr id="45" name="Oval 44"/>
          <p:cNvSpPr/>
          <p:nvPr/>
        </p:nvSpPr>
        <p:spPr>
          <a:xfrm>
            <a:off x="8375903" y="4114799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31936" y="4005072"/>
            <a:ext cx="27187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No manual file handling</a:t>
            </a:r>
          </a:p>
        </p:txBody>
      </p:sp>
      <p:sp>
        <p:nvSpPr>
          <p:cNvPr id="47" name="Oval 46"/>
          <p:cNvSpPr/>
          <p:nvPr/>
        </p:nvSpPr>
        <p:spPr>
          <a:xfrm>
            <a:off x="8375903" y="4681727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31936" y="4572000"/>
            <a:ext cx="27187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No tokeniser or loader code to write</a:t>
            </a:r>
          </a:p>
        </p:txBody>
      </p:sp>
      <p:sp>
        <p:nvSpPr>
          <p:cNvPr id="49" name="Oval 48"/>
          <p:cNvSpPr/>
          <p:nvPr/>
        </p:nvSpPr>
        <p:spPr>
          <a:xfrm>
            <a:off x="8375903" y="5248655"/>
            <a:ext cx="109728" cy="10972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31936" y="5138928"/>
            <a:ext cx="27187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One command to pull, one command to run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77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9.2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9.2  Install and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Four steps and you are running.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7" y="3136392"/>
            <a:ext cx="0" cy="2642616"/>
          </a:xfrm>
          <a:prstGeom prst="line">
            <a:avLst/>
          </a:prstGeom>
          <a:ln w="25400">
            <a:solidFill>
              <a:srgbClr val="FF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0072" y="2965216"/>
            <a:ext cx="342351" cy="342351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2779776"/>
            <a:ext cx="10271729" cy="7132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3" y="2779776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Go to the Ollama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79776"/>
            <a:ext cx="612035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Search for Ollama and open the official site</a:t>
            </a:r>
          </a:p>
        </p:txBody>
      </p:sp>
      <p:sp>
        <p:nvSpPr>
          <p:cNvPr id="21" name="Oval 20"/>
          <p:cNvSpPr/>
          <p:nvPr/>
        </p:nvSpPr>
        <p:spPr>
          <a:xfrm>
            <a:off x="670072" y="3846088"/>
            <a:ext cx="342351" cy="342351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3660647"/>
            <a:ext cx="10271729" cy="7132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3" y="3660647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Click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660647"/>
            <a:ext cx="612035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Pick your operating system and download the installer</a:t>
            </a:r>
          </a:p>
        </p:txBody>
      </p:sp>
      <p:sp>
        <p:nvSpPr>
          <p:cNvPr id="25" name="Oval 24"/>
          <p:cNvSpPr/>
          <p:nvPr/>
        </p:nvSpPr>
        <p:spPr>
          <a:xfrm>
            <a:off x="670072" y="4726960"/>
            <a:ext cx="342351" cy="342351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53312" y="4541520"/>
            <a:ext cx="10271729" cy="7132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9343" y="4541520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Run the installer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541520"/>
            <a:ext cx="612035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Click through the installation prompts and let it complete</a:t>
            </a:r>
          </a:p>
        </p:txBody>
      </p:sp>
      <p:sp>
        <p:nvSpPr>
          <p:cNvPr id="29" name="Oval 28"/>
          <p:cNvSpPr/>
          <p:nvPr/>
        </p:nvSpPr>
        <p:spPr>
          <a:xfrm>
            <a:off x="670072" y="5607832"/>
            <a:ext cx="342351" cy="342351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3312" y="5422392"/>
            <a:ext cx="10271729" cy="7132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3" y="5422392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31273"/>
                </a:solidFill>
                <a:latin typeface="Segoe UI Semibold"/>
              </a:rPr>
              <a:t>Verify the installation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5422392"/>
            <a:ext cx="612035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Run ollama --version in Command Prompt (or Terminal on macOS)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78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9.3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9.3  Reading the Ollama Model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One important distinction on the models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LOCAL MODELS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Free to download and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Downloaded to your machine and run there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No payment, no API 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Qwen and Gemma families are available here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Most models sit around 5–6 GB — plan for that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CLOUD MODELS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Marked with a cloud symbol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These are accessed rather than downloaded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Using them requires payment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Easy to spot by the symbol next to the name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For learning, stay on the free local models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79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9.4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9.4  The Commands You Will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Four commands cover everything in this topic.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7086600" cy="3511296"/>
          </a:xfrm>
          <a:prstGeom prst="roundRect">
            <a:avLst>
              <a:gd name="adj" fmla="val 4500"/>
            </a:avLst>
          </a:prstGeom>
          <a:solidFill>
            <a:srgbClr val="051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7086600" cy="420624"/>
          </a:xfrm>
          <a:prstGeom prst="roundRect">
            <a:avLst>
              <a:gd name="adj" fmla="val 16000"/>
            </a:avLst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944368"/>
            <a:ext cx="7086600" cy="146304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" y="2811779"/>
            <a:ext cx="132588" cy="132588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9264" y="2811779"/>
            <a:ext cx="132588" cy="132588"/>
          </a:xfrm>
          <a:prstGeom prst="ellipse">
            <a:avLst/>
          </a:prstGeom>
          <a:solidFill>
            <a:srgbClr val="FF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0432" y="2811779"/>
            <a:ext cx="132588" cy="132588"/>
          </a:xfrm>
          <a:prstGeom prst="ellipse">
            <a:avLst/>
          </a:prstGeom>
          <a:solidFill>
            <a:srgbClr val="3BD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1328" y="2670048"/>
            <a:ext cx="5989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ACE8"/>
                </a:solidFill>
                <a:latin typeface="Consolas"/>
              </a:rPr>
              <a:t>Command Prompt  —  Ollama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236976"/>
            <a:ext cx="6519672" cy="2724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1">
                <a:solidFill>
                  <a:srgbClr val="7A88C8"/>
                </a:solidFill>
                <a:latin typeface="Consolas"/>
              </a:rPr>
              <a:t># 1. Confirm Ollama is installed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FF4A62"/>
                </a:solidFill>
                <a:latin typeface="Consolas"/>
              </a:rPr>
              <a:t>&gt; ollama --version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1">
                <a:solidFill>
                  <a:srgbClr val="7A88C8"/>
                </a:solidFill>
                <a:latin typeface="Consolas"/>
              </a:rPr>
              <a:t># 2. Run a model (pulls it automatically the first time)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FF4A62"/>
                </a:solidFill>
                <a:latin typeface="Consolas"/>
              </a:rPr>
              <a:t>&gt; ollama run qwen2.5:0.5b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5FE0B4"/>
                </a:solidFill>
                <a:latin typeface="Consolas"/>
              </a:rPr>
              <a:t>   pulling manifest ...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5FE0B4"/>
                </a:solidFill>
                <a:latin typeface="Consolas"/>
              </a:rPr>
              <a:t>   pulling model  397 MB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5FE0B4"/>
                </a:solidFill>
                <a:latin typeface="Consolas"/>
              </a:rPr>
              <a:t>   success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5FE0B4"/>
                </a:solidFill>
                <a:latin typeface="Consolas"/>
              </a:rPr>
              <a:t>   send a message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1">
                <a:solidFill>
                  <a:srgbClr val="7A88C8"/>
                </a:solidFill>
                <a:latin typeface="Consolas"/>
              </a:rPr>
              <a:t># 3. Chat with it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FF4A62"/>
                </a:solidFill>
                <a:latin typeface="Consolas"/>
              </a:rPr>
              <a:t>&gt;&gt;&gt; Generate an email for applying for an AI engineer role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5FE0B4"/>
                </a:solidFill>
                <a:latin typeface="Consolas"/>
              </a:rPr>
              <a:t>   (the model responds locally)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E4E9FF"/>
                </a:solidFill>
                <a:latin typeface="Consolas"/>
              </a:rPr>
              <a:t> 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1">
                <a:solidFill>
                  <a:srgbClr val="7A88C8"/>
                </a:solidFill>
                <a:latin typeface="Consolas"/>
              </a:rPr>
              <a:t># 4. Run it again later — no re-download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>
                <a:solidFill>
                  <a:srgbClr val="FF4A62"/>
                </a:solidFill>
                <a:latin typeface="Consolas"/>
              </a:rPr>
              <a:t>&gt; ollama run qwen2.5:0.5b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1" y="2670048"/>
            <a:ext cx="3642329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82711" y="2670048"/>
            <a:ext cx="3642329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3" y="2980944"/>
            <a:ext cx="313026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NOTICE</a:t>
            </a:r>
          </a:p>
        </p:txBody>
      </p:sp>
      <p:sp>
        <p:nvSpPr>
          <p:cNvPr id="27" name="Oval 26"/>
          <p:cNvSpPr/>
          <p:nvPr/>
        </p:nvSpPr>
        <p:spPr>
          <a:xfrm>
            <a:off x="8238743" y="3538727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1" y="3474720"/>
            <a:ext cx="2819369" cy="635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model downloads once and is cached</a:t>
            </a:r>
          </a:p>
        </p:txBody>
      </p:sp>
      <p:sp>
        <p:nvSpPr>
          <p:cNvPr id="29" name="Oval 28"/>
          <p:cNvSpPr/>
          <p:nvPr/>
        </p:nvSpPr>
        <p:spPr>
          <a:xfrm>
            <a:off x="8238743" y="4174236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1" y="4110228"/>
            <a:ext cx="2819369" cy="635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Close the terminal, reopen it, run the same command — it starts immediately</a:t>
            </a:r>
          </a:p>
        </p:txBody>
      </p:sp>
      <p:sp>
        <p:nvSpPr>
          <p:cNvPr id="31" name="Oval 30"/>
          <p:cNvSpPr/>
          <p:nvPr/>
        </p:nvSpPr>
        <p:spPr>
          <a:xfrm>
            <a:off x="8238743" y="4809744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1" y="4745736"/>
            <a:ext cx="2819369" cy="635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Everything runs locally with no API cost</a:t>
            </a:r>
          </a:p>
        </p:txBody>
      </p:sp>
      <p:sp>
        <p:nvSpPr>
          <p:cNvPr id="33" name="Oval 32"/>
          <p:cNvSpPr/>
          <p:nvPr/>
        </p:nvSpPr>
        <p:spPr>
          <a:xfrm>
            <a:off x="8238743" y="5445252"/>
            <a:ext cx="182880" cy="182880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1" y="5381244"/>
            <a:ext cx="2819369" cy="635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Gemma 2 at around 2 GB is another good option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80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9.6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9.6  Ollama App vs Command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Both work. One gives you far more 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THE OLLAMA APP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A chat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Opens as a normal chat window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Models load and you type straight into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Only a limited selection of models is offered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Convenient for a quick 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THE COMMAND LINE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recommended route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Far more models are accessible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Any model in the library can be pulled by name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Same experience, no restrictions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This is what we use throughout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81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9.7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9.7  Size vs Quality — The Honest Trade-Off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Small models are wonderfully convenient. They are also genuinely limited.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~400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QWEN2.5 0.5B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Runs on almost any laptop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8309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4613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~600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4613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TINYLLAMA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4613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6CEF4"/>
                </a:solidFill>
                <a:latin typeface="Segoe UI"/>
              </a:rPr>
              <a:t>Small, fast, and noticeably weaker output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9691" y="2670048"/>
            <a:ext cx="3515349" cy="164592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5995" y="2907791"/>
            <a:ext cx="322274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~2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995" y="3657599"/>
            <a:ext cx="3222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GEMMA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5995" y="3931920"/>
            <a:ext cx="322274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E0E5"/>
                </a:solidFill>
                <a:latin typeface="Segoe UI"/>
              </a:rPr>
              <a:t>A better balance if your machine allows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72000"/>
            <a:ext cx="5401040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572000"/>
            <a:ext cx="5401040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73168"/>
            <a:ext cx="4962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WHY SMALL MODELS UNDER-PERFORM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111496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Lower capacity means lower output quality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434584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Good thinking and strong output come from larger models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757672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Those were trained on far larger data and are far bigger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4000" y="4572000"/>
            <a:ext cx="5401040" cy="1609343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4000" y="4572000"/>
            <a:ext cx="5401040" cy="6858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3456" y="4773168"/>
            <a:ext cx="4962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80">
                <a:solidFill>
                  <a:srgbClr val="031273"/>
                </a:solidFill>
                <a:latin typeface="Segoe UI Semibold"/>
              </a:rPr>
              <a:t>WHERE SMALL MODELS FIT</a:t>
            </a:r>
          </a:p>
        </p:txBody>
      </p:sp>
      <p:sp>
        <p:nvSpPr>
          <p:cNvPr id="40" name="Oval 39"/>
          <p:cNvSpPr/>
          <p:nvPr/>
        </p:nvSpPr>
        <p:spPr>
          <a:xfrm>
            <a:off x="6461744" y="5212080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1200" y="5111496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Small, well-defined tasks</a:t>
            </a:r>
          </a:p>
        </p:txBody>
      </p:sp>
      <p:sp>
        <p:nvSpPr>
          <p:cNvPr id="42" name="Oval 41"/>
          <p:cNvSpPr/>
          <p:nvPr/>
        </p:nvSpPr>
        <p:spPr>
          <a:xfrm>
            <a:off x="6461744" y="5535168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81200" y="5434584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Learning and experimentation</a:t>
            </a:r>
          </a:p>
        </p:txBody>
      </p:sp>
      <p:sp>
        <p:nvSpPr>
          <p:cNvPr id="44" name="Oval 43"/>
          <p:cNvSpPr/>
          <p:nvPr/>
        </p:nvSpPr>
        <p:spPr>
          <a:xfrm>
            <a:off x="6461744" y="5858256"/>
            <a:ext cx="100584" cy="100584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81200" y="5757672"/>
            <a:ext cx="4706096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Machines with 4 GB of RAM, where nothing else will run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82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9.8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9.8  Connecting Ollama to Your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You can do it. You mostly should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0128"/>
            <a:ext cx="5364464" cy="310896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HOW IT WORKS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The Python package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Ollama publishes a Python package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58768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Use its chat method to talk to any model you pulled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Point your application at the local model instead of an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901184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It works, and it works well for local experimentation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422392"/>
            <a:ext cx="50292" cy="429768"/>
          </a:xfrm>
          <a:prstGeom prst="rect">
            <a:avLst/>
          </a:prstGeom>
          <a:solidFill>
            <a:srgbClr val="031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0576" y="2670048"/>
            <a:ext cx="5364464" cy="3511296"/>
          </a:xfrm>
          <a:prstGeom prst="roundRect">
            <a:avLst>
              <a:gd name="adj" fmla="val 55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0576" y="2670048"/>
            <a:ext cx="5364464" cy="950976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0576" y="3310128"/>
            <a:ext cx="5364464" cy="310896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6" y="2670048"/>
            <a:ext cx="481582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THE PRODUCTION WARNING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FFEAEE"/>
                </a:solidFill>
                <a:latin typeface="Segoe UI"/>
              </a:rPr>
              <a:t>Stated plainly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6608" y="3858768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6064" y="3858768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Do not use this as the backend of a production app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6608" y="3858768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16608" y="4379976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6064" y="4379976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 locally-run model takes a long time to respond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6608" y="4379976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6608" y="4901184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64" y="4901184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user gets frustrated and stops paying you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6608" y="4901184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16608" y="5422392"/>
            <a:ext cx="4852400" cy="4297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6064" y="5422392"/>
            <a:ext cx="4431776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Always use an API in production. Know this exists — do not ship it.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6608" y="5422392"/>
            <a:ext cx="50292" cy="429768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09 · OLLAMA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Method 1 vs Method 2 — Which to Use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Both give you a locally-running open-source model. They differ in effort.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5373608" cy="786384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31273"/>
              </a:gs>
              <a:gs pos="100000">
                <a:srgbClr val="1B2A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HUGGING FACE + PYTHON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C2F0"/>
                </a:solidFill>
                <a:latin typeface="Segoe UI"/>
              </a:rPr>
              <a:t>Topic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1432" y="2359152"/>
            <a:ext cx="5373608" cy="786384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OLLAMA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DDE2"/>
                </a:solidFill>
                <a:latin typeface="Segoe UI"/>
              </a:rPr>
              <a:t>Topic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73552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1432" y="3273552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273552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venv, packages, account, login, download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600" y="3273552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Install the app, then one command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9640" y="3320186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SETUP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741724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432" y="3741724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41724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You write the loader and generation 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600" y="3741724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None required to start chatting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9640" y="3788359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09897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51432" y="4209897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09897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Full control over tokeniser and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600" y="4209897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Sensible defaults handled for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9640" y="4256532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CONTROL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678070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51432" y="4678070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678070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You manage the folders yourself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2600" y="4678070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Pulled and cached automatically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9640" y="4724704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MODEL FILES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46243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51432" y="5146243"/>
            <a:ext cx="5373608" cy="376732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146243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VMs and servers, and understanding the internals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2600" y="5146243"/>
            <a:ext cx="5007848" cy="376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83892"/>
                </a:solidFill>
                <a:latin typeface="Segoe UI"/>
              </a:rPr>
              <a:t>Getting a model running quickly on your own machine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9640" y="5192877"/>
            <a:ext cx="932688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031273"/>
                </a:solidFill>
                <a:latin typeface="Segoe UI Semibold"/>
              </a:rPr>
              <a:t>BEST FOR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614416"/>
            <a:ext cx="11058113" cy="566928"/>
          </a:xfrm>
          <a:prstGeom prst="roundRect">
            <a:avLst>
              <a:gd name="adj" fmla="val 24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5614416"/>
            <a:ext cx="50292" cy="56692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5614416"/>
            <a:ext cx="1055519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If you are first-time technical, watch the walkthrough twice. It becomes simple very quickly.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46120" y="-914400"/>
            <a:ext cx="3291840" cy="3291840"/>
          </a:xfrm>
          <a:prstGeom prst="ellipse">
            <a:avLst/>
          </a:prstGeom>
          <a:solidFill>
            <a:srgbClr val="FF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4892040"/>
            <a:ext cx="3017520" cy="3017520"/>
          </a:xfrm>
          <a:prstGeom prst="ellipse">
            <a:avLst/>
          </a:prstGeom>
          <a:solidFill>
            <a:srgbClr val="F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292608"/>
            <a:ext cx="3968496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530679" cy="786384"/>
          </a:xfrm>
          <a:prstGeom prst="rect">
            <a:avLst/>
          </a:prstGeom>
        </p:spPr>
      </p:pic>
      <p:pic>
        <p:nvPicPr>
          <p:cNvPr id="9" name="Picture 8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603504"/>
            <a:ext cx="2103120" cy="224649"/>
          </a:xfrm>
          <a:prstGeom prst="rect">
            <a:avLst/>
          </a:prstGeom>
        </p:spPr>
      </p:pic>
      <p:pic>
        <p:nvPicPr>
          <p:cNvPr id="10" name="Picture 9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960120"/>
            <a:ext cx="2633472" cy="71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5176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60">
                <a:solidFill>
                  <a:srgbClr val="FFD2D8"/>
                </a:solidFill>
                <a:latin typeface="Segoe UI Semibold"/>
              </a:rPr>
              <a:t>TOPIC</a:t>
            </a:r>
          </a:p>
          <a:p>
            <a:pPr algn="l">
              <a:lnSpc>
                <a:spcPct val="86000"/>
              </a:lnSpc>
              <a:spcBef>
                <a:spcPts val="200"/>
              </a:spcBef>
              <a:spcAft>
                <a:spcPts val="0"/>
              </a:spcAft>
            </a:pPr>
            <a:r>
              <a:rPr sz="9200" b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1558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0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D2D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572768"/>
            <a:ext cx="5989320" cy="1298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31273"/>
                </a:solidFill>
                <a:latin typeface="Segoe UI Semibold"/>
              </a:rPr>
              <a:t>Open-Source Model with Ollama — Hands-On Practice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035808"/>
            <a:ext cx="868680" cy="50292"/>
          </a:xfrm>
          <a:prstGeom prst="rect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329184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486"/>
                </a:solidFill>
                <a:latin typeface="Segoe UI"/>
              </a:rPr>
              <a:t>The concept becomes real the moment you run it yourself. Complete this without skipping it.</a:t>
            </a:r>
          </a:p>
        </p:txBody>
      </p:sp>
      <p:sp>
        <p:nvSpPr>
          <p:cNvPr id="16" name="Oval 15"/>
          <p:cNvSpPr/>
          <p:nvPr/>
        </p:nvSpPr>
        <p:spPr>
          <a:xfrm>
            <a:off x="5641848" y="4389120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15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hands-on task, stated precisely</a:t>
            </a:r>
          </a:p>
        </p:txBody>
      </p:sp>
      <p:sp>
        <p:nvSpPr>
          <p:cNvPr id="18" name="Oval 17"/>
          <p:cNvSpPr/>
          <p:nvPr/>
        </p:nvSpPr>
        <p:spPr>
          <a:xfrm>
            <a:off x="5641848" y="4809744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7365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The five-step workflow to complete it</a:t>
            </a:r>
          </a:p>
        </p:txBody>
      </p:sp>
      <p:sp>
        <p:nvSpPr>
          <p:cNvPr id="20" name="Oval 19"/>
          <p:cNvSpPr/>
          <p:nvPr/>
        </p:nvSpPr>
        <p:spPr>
          <a:xfrm>
            <a:off x="5641848" y="5230368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15721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Deliverables and validation criteria</a:t>
            </a:r>
          </a:p>
        </p:txBody>
      </p:sp>
      <p:sp>
        <p:nvSpPr>
          <p:cNvPr id="22" name="Oval 21"/>
          <p:cNvSpPr/>
          <p:nvPr/>
        </p:nvSpPr>
        <p:spPr>
          <a:xfrm>
            <a:off x="5641848" y="5650992"/>
            <a:ext cx="128016" cy="128016"/>
          </a:xfrm>
          <a:prstGeom prst="ellipse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577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83892"/>
                </a:solidFill>
                <a:latin typeface="Segoe UI"/>
              </a:rPr>
              <a:t>Everything else to complete in this phase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10 · HANDS-ON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84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10.1  Your Hands-On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212848"/>
            <a:ext cx="11058113" cy="1825508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2212848"/>
            <a:ext cx="9777953" cy="1825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Install Ollama, pull the Qwen2.5 0.5B model, give it an input, take an output — and capture two screenshots.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qwen2.5 · 0.5 billion parameters · around 400 MB on disk.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4405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4405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8725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THE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8725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Works on virtually any laptop. 4 GB of RAM is enough — try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1883" y="4312676"/>
            <a:ext cx="3503157" cy="1868667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1883" y="4312676"/>
            <a:ext cx="50292" cy="1868667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6203" y="4550420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THE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6203" y="4934468"/>
            <a:ext cx="2972805" cy="104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Two screenshots: the model being pulled, and your conversation with it.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10 · HANDS-ON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85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10.2  The Hands-On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Five steps. Everything you need was covered in Topic 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931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Install 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Download from the official site and install it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5203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62675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2675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5061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8979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8979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ollama --version confirms the install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10951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58423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58423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30808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4727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Pull the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4727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ollama run qwen2.5:0.5b — about 400 MB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06698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54170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4170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26556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0474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Give it an 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0474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Any prompt you like, typed into the chat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402446" y="3849623"/>
            <a:ext cx="274320" cy="274320"/>
          </a:xfrm>
          <a:prstGeom prst="rightArrow">
            <a:avLst/>
          </a:prstGeom>
          <a:solidFill>
            <a:srgbClr val="FF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49918" y="2670048"/>
            <a:ext cx="1875123" cy="2633472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49918" y="2670048"/>
            <a:ext cx="1875123" cy="82296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22303" y="2980944"/>
            <a:ext cx="530352" cy="530352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6222" y="3639312"/>
            <a:ext cx="15825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Capture the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6222" y="4261104"/>
            <a:ext cx="1582515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Screenshot the pull and the conversation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This is exactly what was demonstrated — installing Ollama, pulling a model and talking to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10 · HANDS-ON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86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10.3  Deliverables and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Check every line before you call it done.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Ollama installed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Verified with ollama --version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576" y="2670048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0032" y="29108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808" y="2761488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Model pulled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qwen2.5 0.5B, roughly 400 MB, downloaded successfully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Screenshot 1 — the pull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model being pulled, showing success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576" y="364540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0032" y="388619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3808" y="373684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Screenshot 2 — the chat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Your input and the model's response, visible together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Input and output both visible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conversation must be legible in the screenshot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0576" y="4620767"/>
            <a:ext cx="5364464" cy="829056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80032" y="4861559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3808" y="4712207"/>
            <a:ext cx="4468352" cy="64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Both screenshots captured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Two screenshots — that is the whole deliverable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8113" cy="603504"/>
          </a:xfrm>
          <a:prstGeom prst="roundRect">
            <a:avLst>
              <a:gd name="adj" fmla="val 22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577840"/>
            <a:ext cx="1055519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3892"/>
                </a:solidFill>
                <a:latin typeface="Segoe UI"/>
              </a:rPr>
              <a:t>Do not skip it. Doing it yourself is what turns the concept into practice.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10 · HANDS-ON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87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10.4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10.4  Common Problems and 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Everything below comes up in practice.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The laptop stalls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The model is too large for the memory available. Stay on the 0.5B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0036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00036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37780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DL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7780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Download incomplete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7780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Let the pull finish fully before you try to run the model.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144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3144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0888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CMD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888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Command not found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888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Ollama has not finished installing. Check ollama --version.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6253" y="2670048"/>
            <a:ext cx="2558788" cy="2194560"/>
          </a:xfrm>
          <a:prstGeom prst="roundRect">
            <a:avLst>
              <a:gd name="adj" fmla="val 7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6253" y="2670048"/>
            <a:ext cx="2558788" cy="77724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03997" y="2944368"/>
            <a:ext cx="548640" cy="548640"/>
          </a:xfrm>
          <a:prstGeom prst="roundRect">
            <a:avLst>
              <a:gd name="adj" fmla="val 26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3997" y="3657600"/>
            <a:ext cx="20833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31273"/>
                </a:solidFill>
                <a:latin typeface="Segoe UI Semibold"/>
              </a:rPr>
              <a:t>Weak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3997" y="4059935"/>
            <a:ext cx="20833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A5486"/>
                </a:solidFill>
                <a:latin typeface="Segoe UI"/>
              </a:rPr>
              <a:t>Expected on a 0.5B model. Quality follows size and your system.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10 · HANDS-ON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88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1143000"/>
            <a:ext cx="173736" cy="173736"/>
          </a:xfrm>
          <a:prstGeom prst="ellipse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1155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FF4A62"/>
                </a:solidFill>
                <a:latin typeface="Segoe UI Semibold"/>
              </a:rPr>
              <a:t>SUB-TOPIC 10.5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10.5  Everything to Complete in This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0299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The Ollama hands-on task is the main deliverable. These were also set along the 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16936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61488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Decode one open-source model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Capabilities, usage, context window, size — Topic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0576" y="2670048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0032" y="2916936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808" y="2761488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Decode five closed-source models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Capabilities, context, output, cost — Topic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57600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904487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49039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Purchase the OpenAI API key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$10, auto top-up disabled — Topic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576" y="3657600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0032" y="3904487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3808" y="3749039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Explore Hugging Face Spaces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Try image generation, OCR and upscaling — Topic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645152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" y="48920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36592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Run a model with Ollama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Install, pull, chat, screenshot — Topics 9 and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0576" y="4645152"/>
            <a:ext cx="5364464" cy="841248"/>
          </a:xfrm>
          <a:prstGeom prst="roundRect">
            <a:avLst>
              <a:gd name="adj" fmla="val 14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80032" y="4892040"/>
            <a:ext cx="347472" cy="347472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3808" y="4736592"/>
            <a:ext cx="44683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31273"/>
                </a:solidFill>
                <a:latin typeface="Segoe UI Semibold"/>
              </a:rPr>
              <a:t>Capture the two screenshots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5486"/>
                </a:solidFill>
                <a:latin typeface="Segoe UI"/>
              </a:rPr>
              <a:t>The pull and the conversation — the main deliverable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TOPIC 10 · HANDS-ON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10.6  Phase-005 in One Picture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190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486"/>
                </a:solidFill>
                <a:latin typeface="Segoe UI"/>
              </a:rPr>
              <a:t>Ten topics, four themes. This is what you now know how to 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59152"/>
            <a:ext cx="2572504" cy="3822191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359152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761488"/>
            <a:ext cx="2572504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359152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090672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Topics 1–2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547872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What an LLM 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52620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How it works, step by 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557369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Tokens and embeddings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062118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LLM · LMM · SLM · VLM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566867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Open source vs closed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5464" y="2359152"/>
            <a:ext cx="2572504" cy="3822191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95464" y="2359152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5464" y="2761488"/>
            <a:ext cx="2572504" cy="256032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5192" y="2359152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THE CLOSED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1768" y="3090672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Topics 3–5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41768" y="3547872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The four major players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41768" y="4052620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Frontier vs specialised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1768" y="4557369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Token pricing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41768" y="5062118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Buying an API key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41768" y="5566867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Reading benchmarks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4000" y="2359152"/>
            <a:ext cx="2572504" cy="3822191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24000" y="2359152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24000" y="2761488"/>
            <a:ext cx="2572504" cy="256032"/>
          </a:xfrm>
          <a:prstGeom prst="rect">
            <a:avLst/>
          </a:prstGeom>
          <a:solidFill>
            <a:srgbClr val="FF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3728" y="2359152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THE TOOLKIT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304" y="3090672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Topics 6–7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0304" y="3547872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Free chat tools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70304" y="4052620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AI code editors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0304" y="4557369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Agentic tools, explained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70304" y="5062118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Hugging Face platform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70304" y="5566867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Spaces for free productivity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2537" y="2359152"/>
            <a:ext cx="2572504" cy="3822191"/>
          </a:xfrm>
          <a:prstGeom prst="roundRect">
            <a:avLst>
              <a:gd name="adj" fmla="val 55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52537" y="2359152"/>
            <a:ext cx="2572504" cy="658368"/>
          </a:xfrm>
          <a:prstGeom prst="roundRect">
            <a:avLst>
              <a:gd name="adj" fmla="val 17000"/>
            </a:avLst>
          </a:prstGeom>
          <a:gradFill rotWithShape="1">
            <a:gsLst>
              <a:gs pos="0">
                <a:srgbClr val="031273"/>
              </a:gs>
              <a:gs pos="100000">
                <a:srgbClr val="24339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52537" y="2761488"/>
            <a:ext cx="2572504" cy="256032"/>
          </a:xfrm>
          <a:prstGeom prst="rect">
            <a:avLst/>
          </a:prstGeom>
          <a:solidFill>
            <a:srgbClr val="243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62265" y="2359152"/>
            <a:ext cx="2353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THE OPEN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8841" y="3090672"/>
            <a:ext cx="2279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83892"/>
                </a:solidFill>
                <a:latin typeface="Segoe UI Semibold"/>
              </a:rPr>
              <a:t>Topics 8–10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98841" y="3547872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Pulling models from HF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98841" y="4052620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Running them with Python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98841" y="4557369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Ollama, install to chat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98841" y="5062118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Local vs API trade-offs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98841" y="5566867"/>
            <a:ext cx="2279896" cy="422452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8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486"/>
                </a:solidFill>
                <a:latin typeface="Segoe UI"/>
              </a:rPr>
              <a:t>The hands-on task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"/>
            <a:ext cx="407265" cy="603504"/>
          </a:xfrm>
          <a:prstGeom prst="rect">
            <a:avLst/>
          </a:prstGeom>
        </p:spPr>
      </p:pic>
      <p:pic>
        <p:nvPicPr>
          <p:cNvPr id="5" name="Picture 4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"/>
            <a:ext cx="2212848" cy="236370"/>
          </a:xfrm>
          <a:prstGeom prst="rect">
            <a:avLst/>
          </a:prstGeom>
        </p:spPr>
      </p:pic>
      <p:pic>
        <p:nvPicPr>
          <p:cNvPr id="6" name="Picture 5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48640"/>
            <a:ext cx="2788920" cy="75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0161" y="237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40">
                <a:solidFill>
                  <a:srgbClr val="5A66A8"/>
                </a:solidFill>
                <a:latin typeface="Segoe UI Semibold"/>
              </a:rPr>
              <a:t>PHASE-005 · WRAP-UP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54964"/>
            <a:ext cx="12191969" cy="41148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66928" y="6345936"/>
            <a:ext cx="11058113" cy="0"/>
          </a:xfrm>
          <a:prstGeom prst="line">
            <a:avLst/>
          </a:prstGeom>
          <a:ln w="12700">
            <a:solidFill>
              <a:srgbClr val="E8E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648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4A62"/>
                </a:solidFill>
                <a:latin typeface="Segoe UI Semibold"/>
              </a:rPr>
              <a:t>SHASUVATHANAN.COM</a:t>
            </a:r>
            <a:r>
              <a:rPr sz="950" b="0">
                <a:solidFill>
                  <a:srgbClr val="E8ECFB"/>
                </a:solidFill>
                <a:latin typeface="Segoe UI"/>
              </a:rPr>
              <a:t>   •   </a:t>
            </a:r>
            <a:r>
              <a:rPr sz="950" b="0">
                <a:solidFill>
                  <a:srgbClr val="5A66A8"/>
                </a:solidFill>
                <a:latin typeface="Segoe UI"/>
              </a:rPr>
              <a:t>linkedin.com/in/shasuvathanan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7601" y="64648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80">
                <a:solidFill>
                  <a:srgbClr val="5A66A8"/>
                </a:solidFill>
                <a:latin typeface="Segoe UI Semibold"/>
              </a:rPr>
              <a:t>SHASU VATHANAN   |   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15568"/>
            <a:ext cx="1087523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031273"/>
                </a:solidFill>
                <a:latin typeface="Segoe UI Semibold"/>
              </a:rPr>
              <a:t>Where You Stand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901952"/>
            <a:ext cx="11058113" cy="1968520"/>
          </a:xfrm>
          <a:prstGeom prst="roundRect">
            <a:avLst>
              <a:gd name="adj" fmla="val 5500"/>
            </a:avLst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1901952"/>
            <a:ext cx="9777953" cy="1968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Segoe UI Semibold"/>
              </a:rPr>
              <a:t>You can explain how an LLM works, choose between an open and a closed model, buy access responsibly, read a benchmark, and run a model on your own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Tokens, embeddings, attention, and the four model families.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4405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4405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8725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CHOOSE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8725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Open source or closed source, judged on benchmarks and on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1883" y="4144792"/>
            <a:ext cx="3503157" cy="2036551"/>
          </a:xfrm>
          <a:prstGeom prst="roundRect">
            <a:avLst>
              <a:gd name="adj" fmla="val 9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1883" y="4144792"/>
            <a:ext cx="50292" cy="2036551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6203" y="4382536"/>
            <a:ext cx="29728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80">
                <a:solidFill>
                  <a:srgbClr val="031273"/>
                </a:solidFill>
                <a:latin typeface="Segoe UI Semibold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6203" y="4766584"/>
            <a:ext cx="2972805" cy="121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486"/>
                </a:solidFill>
                <a:latin typeface="Segoe UI"/>
              </a:rPr>
              <a:t>An API key in hand, free tools installed, and a local model running.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4A62"/>
              </a:gs>
              <a:gs pos="100000">
                <a:srgbClr val="FF5A4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737360"/>
            <a:ext cx="5669280" cy="5669280"/>
          </a:xfrm>
          <a:prstGeom prst="ellipse">
            <a:avLst/>
          </a:prstGeom>
          <a:solidFill>
            <a:srgbClr val="FF6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FF6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" y="310896"/>
            <a:ext cx="4535424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1-Dragon-Motivatio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586215" cy="868680"/>
          </a:xfrm>
          <a:prstGeom prst="rect">
            <a:avLst/>
          </a:prstGeom>
        </p:spPr>
      </p:pic>
      <p:pic>
        <p:nvPicPr>
          <p:cNvPr id="8" name="Picture 7" descr="2-SHASUVATHANAN-NAME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621792"/>
            <a:ext cx="2606040" cy="278369"/>
          </a:xfrm>
          <a:prstGeom prst="rect">
            <a:avLst/>
          </a:prstGeom>
        </p:spPr>
      </p:pic>
      <p:pic>
        <p:nvPicPr>
          <p:cNvPr id="9" name="Picture 8" descr="3-ShasuVathanan-GEN AI-Product-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024128"/>
            <a:ext cx="3108960" cy="843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21284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FFFFFF"/>
                </a:solidFill>
                <a:latin typeface="Segoe UI Semibold"/>
              </a:rPr>
              <a:t>Phase-005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18688"/>
            <a:ext cx="960120" cy="50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" y="3593591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493008"/>
            <a:ext cx="7863840" cy="369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E8EB"/>
                </a:solidFill>
                <a:latin typeface="Segoe UI"/>
              </a:rPr>
              <a:t>Complete the Ollama hands-on task — two screenshots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3963009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62425"/>
            <a:ext cx="7863840" cy="369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E8EB"/>
                </a:solidFill>
                <a:latin typeface="Segoe UI"/>
              </a:rPr>
              <a:t>Decode one open-source and five closed-source models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" y="4332427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231843"/>
            <a:ext cx="7863840" cy="369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E8EB"/>
                </a:solidFill>
                <a:latin typeface="Segoe UI"/>
              </a:rPr>
              <a:t>Purchase the OpenAI API key with $10 and auto top-up disabled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" y="4701844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01260"/>
            <a:ext cx="7863840" cy="369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E8EB"/>
                </a:solidFill>
                <a:latin typeface="Segoe UI"/>
              </a:rPr>
              <a:t>Explore Hugging Face Spaces and shortlist your favourites</a:t>
            </a:r>
          </a:p>
        </p:txBody>
      </p:sp>
      <p:sp>
        <p:nvSpPr>
          <p:cNvPr id="20" name="Oval 19"/>
          <p:cNvSpPr/>
          <p:nvPr/>
        </p:nvSpPr>
        <p:spPr>
          <a:xfrm>
            <a:off x="585216" y="5071262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970678"/>
            <a:ext cx="7863840" cy="3694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E8EB"/>
                </a:solidFill>
                <a:latin typeface="Segoe UI"/>
              </a:rPr>
              <a:t>Keep reading benchmarks as new models are released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41264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00">
                <a:solidFill>
                  <a:srgbClr val="FF4A62"/>
                </a:solidFill>
                <a:latin typeface="Segoe UI Semibold"/>
              </a:rPr>
              <a:t>SHASU VATHANAN  •  GEN AI • PRODUCT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7281" y="237744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240">
                <a:solidFill>
                  <a:srgbClr val="FFD2D8"/>
                </a:solidFill>
                <a:latin typeface="Segoe UI Semibold"/>
              </a:rPr>
              <a:t>CONNECT</a:t>
            </a:r>
          </a:p>
          <a:p>
            <a:pPr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SHASUVATHANAN.COM</a:t>
            </a:r>
          </a:p>
          <a:p>
            <a:pPr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FFE4E8"/>
                </a:solidFill>
                <a:latin typeface="Segoe UI"/>
              </a:rPr>
              <a:t>linkedin.com/in/shasuvathanan</a:t>
            </a:r>
          </a:p>
          <a:p>
            <a:pPr algn="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1200" b="0">
                <a:solidFill>
                  <a:srgbClr val="FFD2D8"/>
                </a:solidFill>
                <a:latin typeface="Segoe UI"/>
              </a:rPr>
              <a:t>Shasu Vathanan - GEN AI - Product 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Foundations and Practical Tools</dc:title>
  <dc:subject>Phase-005 of the Gen AI Architect Journey — LLM foundations, open and closed models, benchmarks, essential tools, Hugging Face and Ollama</dc:subject>
  <dc:creator>Shasu Vathanan - GEN AI - Product Manager</dc:creator>
  <cp:keywords>LLM, Gen AI, open source, closed source, benchmarks, Hugging Face, Ollama, API keys, Shasu Vathanan</cp:keywords>
  <dc:description>SHASUVATHANAN.COM  |  https://www.linkedin.com/in/shasuvathanan</dc:description>
  <cp:lastModifiedBy>Shasu Vathanan - GEN AI - Product Manager</cp:lastModifiedBy>
  <cp:revision>1</cp:revision>
  <dcterms:created xsi:type="dcterms:W3CDTF">2013-01-27T09:14:16Z</dcterms:created>
  <dcterms:modified xsi:type="dcterms:W3CDTF">2013-01-27T09:15:58Z</dcterms:modified>
  <cp:category>Gen AI Architect Journey</cp:category>
</cp:coreProperties>
</file>